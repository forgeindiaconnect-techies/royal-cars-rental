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art smart" userId="98054e9e4838c774" providerId="LiveId" clId="{E979FBE8-2BEE-44BF-AD72-6E442D8D6CE6}"/>
    <pc:docChg chg="undo custSel modSld">
      <pc:chgData name="Smart smart" userId="98054e9e4838c774" providerId="LiveId" clId="{E979FBE8-2BEE-44BF-AD72-6E442D8D6CE6}" dt="2026-07-30T11:18:47.088" v="68" actId="115"/>
      <pc:docMkLst>
        <pc:docMk/>
      </pc:docMkLst>
      <pc:sldChg chg="addSp delSp modSp mod">
        <pc:chgData name="Smart smart" userId="98054e9e4838c774" providerId="LiveId" clId="{E979FBE8-2BEE-44BF-AD72-6E442D8D6CE6}" dt="2026-07-30T11:18:47.088" v="68" actId="115"/>
        <pc:sldMkLst>
          <pc:docMk/>
          <pc:sldMk cId="1431918401" sldId="256"/>
        </pc:sldMkLst>
        <pc:spChg chg="del mod">
          <ac:chgData name="Smart smart" userId="98054e9e4838c774" providerId="LiveId" clId="{E979FBE8-2BEE-44BF-AD72-6E442D8D6CE6}" dt="2026-07-30T11:18:28.873" v="64" actId="478"/>
          <ac:spMkLst>
            <pc:docMk/>
            <pc:sldMk cId="1431918401" sldId="256"/>
            <ac:spMk id="2" creationId="{2BB82625-B78C-4DD8-9D4C-C0DC4521A342}"/>
          </ac:spMkLst>
        </pc:spChg>
        <pc:spChg chg="mod">
          <ac:chgData name="Smart smart" userId="98054e9e4838c774" providerId="LiveId" clId="{E979FBE8-2BEE-44BF-AD72-6E442D8D6CE6}" dt="2026-07-30T11:18:32.704" v="65" actId="1076"/>
          <ac:spMkLst>
            <pc:docMk/>
            <pc:sldMk cId="1431918401" sldId="256"/>
            <ac:spMk id="3" creationId="{19B8B92A-290B-4C9D-AE9D-C473969D7802}"/>
          </ac:spMkLst>
        </pc:spChg>
        <pc:spChg chg="mod">
          <ac:chgData name="Smart smart" userId="98054e9e4838c774" providerId="LiveId" clId="{E979FBE8-2BEE-44BF-AD72-6E442D8D6CE6}" dt="2026-07-30T11:18:35.625" v="66" actId="1076"/>
          <ac:spMkLst>
            <pc:docMk/>
            <pc:sldMk cId="1431918401" sldId="256"/>
            <ac:spMk id="4" creationId="{9438DA5A-71FA-47D3-B7ED-DBC2BC1782A1}"/>
          </ac:spMkLst>
        </pc:spChg>
        <pc:spChg chg="add del mod">
          <ac:chgData name="Smart smart" userId="98054e9e4838c774" providerId="LiveId" clId="{E979FBE8-2BEE-44BF-AD72-6E442D8D6CE6}" dt="2026-07-30T11:18:47.088" v="68" actId="115"/>
          <ac:spMkLst>
            <pc:docMk/>
            <pc:sldMk cId="1431918401" sldId="256"/>
            <ac:spMk id="5" creationId="{73F67B2A-D443-46C1-BC63-CE7A2A4C5458}"/>
          </ac:spMkLst>
        </pc:spChg>
        <pc:spChg chg="mod">
          <ac:chgData name="Smart smart" userId="98054e9e4838c774" providerId="LiveId" clId="{E979FBE8-2BEE-44BF-AD72-6E442D8D6CE6}" dt="2026-07-30T11:16:46.360" v="2" actId="20577"/>
          <ac:spMkLst>
            <pc:docMk/>
            <pc:sldMk cId="1431918401" sldId="256"/>
            <ac:spMk id="6" creationId="{0179A3CE-85ED-4DBC-8F40-9E63E6FAF8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9AF73BD-773E-4CBD-BD44-0F178176A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34A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B8B92A-290B-4C9D-AE9D-C473969D7802}"/>
              </a:ext>
            </a:extLst>
          </p:cNvPr>
          <p:cNvSpPr>
            <a:spLocks noGrp="1"/>
          </p:cNvSpPr>
          <p:nvPr/>
        </p:nvSpPr>
        <p:spPr>
          <a:xfrm>
            <a:off x="9240479" y="29527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5147D8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38DA5A-71FA-47D3-B7ED-DBC2BC1782A1}"/>
              </a:ext>
            </a:extLst>
          </p:cNvPr>
          <p:cNvSpPr>
            <a:spLocks noGrp="1"/>
          </p:cNvSpPr>
          <p:nvPr/>
        </p:nvSpPr>
        <p:spPr>
          <a:xfrm>
            <a:off x="9886950" y="3429000"/>
            <a:ext cx="1466850" cy="1466850"/>
          </a:xfrm>
          <a:prstGeom prst="roundRect">
            <a:avLst>
              <a:gd name="adj" fmla="val 7792"/>
            </a:avLst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67B2A-D443-46C1-BC63-CE7A2A4C5458}"/>
              </a:ext>
            </a:extLst>
          </p:cNvPr>
          <p:cNvSpPr>
            <a:spLocks noGrp="1"/>
          </p:cNvSpPr>
          <p:nvPr/>
        </p:nvSpPr>
        <p:spPr>
          <a:xfrm>
            <a:off x="685799" y="723900"/>
            <a:ext cx="727833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u="sng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3000" u="sng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orge India Connect PVT LTD</a:t>
            </a:r>
            <a:r>
              <a:rPr lang="en-US" sz="30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sz="30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9A3CE-85ED-4DBC-8F40-9E63E6FAF853}"/>
              </a:ext>
            </a:extLst>
          </p:cNvPr>
          <p:cNvSpPr>
            <a:spLocks noGrp="1"/>
          </p:cNvSpPr>
          <p:nvPr/>
        </p:nvSpPr>
        <p:spPr>
          <a:xfrm>
            <a:off x="2095500" y="723900"/>
            <a:ext cx="161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9FE8FF"/>
                </a:solidFill>
                <a:latin typeface="Aptos"/>
                <a:ea typeface="Aptos"/>
                <a:cs typeface="Aptos"/>
              </a:defRPr>
            </a:pPr>
            <a:endParaRPr sz="4500" b="1" dirty="0">
              <a:solidFill>
                <a:srgbClr val="9FE8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E25FED-6EC2-496E-9880-71E806F1FBE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5722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AI-POWERED COLLEGE</a:t>
            </a:r>
          </a:p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4B3621-3EBF-4876-8BAD-E7CD7A433585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71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8D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8FF"/>
                </a:solidFill>
                <a:latin typeface="Aptos"/>
                <a:ea typeface="Aptos"/>
                <a:cs typeface="Aptos"/>
              </a:rPr>
              <a:t>One connected platform for administration, academics, finance, campus operations and student success.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DA6C1C-2E70-4268-94CF-86193B72EEF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219075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3AB49-B13D-44E0-A7D2-D3662F389FBF}"/>
              </a:ext>
            </a:extLst>
          </p:cNvPr>
          <p:cNvSpPr>
            <a:spLocks noGrp="1"/>
          </p:cNvSpPr>
          <p:nvPr/>
        </p:nvSpPr>
        <p:spPr>
          <a:xfrm>
            <a:off x="838200" y="463867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AE8CD0-D811-423E-A7C9-8E6F115B50A0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CBE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BEFF"/>
                </a:solidFill>
                <a:latin typeface="Aptos"/>
                <a:ea typeface="Aptos"/>
                <a:cs typeface="Aptos"/>
              </a:rPr>
              <a:t>College ERP • 2026</a:t>
            </a:r>
          </a:p>
        </p:txBody>
      </p:sp>
    </p:spTree>
    <p:extLst>
      <p:ext uri="{BB962C8B-B14F-4D97-AF65-F5344CB8AC3E}">
        <p14:creationId xmlns:p14="http://schemas.microsoft.com/office/powerpoint/2010/main" val="1431918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1D38E59-FEBE-407D-AE87-C4EE6CB0B9E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THE NEED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8CF8C5-6919-4065-AF26-F010B6B67C5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College operations need one reliable source of truth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90583-246A-471A-BF6D-3F2DF73A15A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BABEE-9C49-417C-9F85-0A2544FCAC91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C42091-B44D-4F76-8AAE-88C973B787C6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5486B-B2BD-4E6D-A577-2C8D31D08C3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Disconnected workflows make it difficult to see what is happening across campus.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39DA0A-3DFD-458A-96B3-48139A30BBAF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FD20B7-C798-4E8B-9606-904B62FEF809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9B778-DE0D-4CDD-969D-64EB977D2676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6B5A9-FF90-4EC5-B000-0683642927B4}"/>
              </a:ext>
            </a:extLst>
          </p:cNvPr>
          <p:cNvSpPr>
            <a:spLocks noGrp="1"/>
          </p:cNvSpPr>
          <p:nvPr/>
        </p:nvSpPr>
        <p:spPr>
          <a:xfrm>
            <a:off x="1504950" y="26098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Academic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59DD3-F43D-4125-867B-9B398F1C2DBB}"/>
              </a:ext>
            </a:extLst>
          </p:cNvPr>
          <p:cNvSpPr>
            <a:spLocks noGrp="1"/>
          </p:cNvSpPr>
          <p:nvPr/>
        </p:nvSpPr>
        <p:spPr>
          <a:xfrm>
            <a:off x="1504950" y="29146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Attendance, marks and timetables often live in separate systems.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50E8A8-8813-40E9-B6CD-575821CF38D6}"/>
              </a:ext>
            </a:extLst>
          </p:cNvPr>
          <p:cNvSpPr>
            <a:spLocks noGrp="1"/>
          </p:cNvSpPr>
          <p:nvPr/>
        </p:nvSpPr>
        <p:spPr>
          <a:xfrm>
            <a:off x="4505325" y="23812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C69340-F414-42A4-8FAE-4F77932BFC88}"/>
              </a:ext>
            </a:extLst>
          </p:cNvPr>
          <p:cNvSpPr>
            <a:spLocks noGrp="1"/>
          </p:cNvSpPr>
          <p:nvPr/>
        </p:nvSpPr>
        <p:spPr>
          <a:xfrm>
            <a:off x="4695825" y="25717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59A7BB-E9DD-4191-B7F5-0AD8E2E18519}"/>
              </a:ext>
            </a:extLst>
          </p:cNvPr>
          <p:cNvSpPr>
            <a:spLocks noGrp="1"/>
          </p:cNvSpPr>
          <p:nvPr/>
        </p:nvSpPr>
        <p:spPr>
          <a:xfrm>
            <a:off x="4695825" y="26289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C681DE-5F63-40BB-9683-DB57A6481BE0}"/>
              </a:ext>
            </a:extLst>
          </p:cNvPr>
          <p:cNvSpPr>
            <a:spLocks noGrp="1"/>
          </p:cNvSpPr>
          <p:nvPr/>
        </p:nvSpPr>
        <p:spPr>
          <a:xfrm>
            <a:off x="5324475" y="26098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Financial visibility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C5E7D-B458-4B1A-B05C-326512C6BD6C}"/>
              </a:ext>
            </a:extLst>
          </p:cNvPr>
          <p:cNvSpPr>
            <a:spLocks noGrp="1"/>
          </p:cNvSpPr>
          <p:nvPr/>
        </p:nvSpPr>
        <p:spPr>
          <a:xfrm>
            <a:off x="5324475" y="29146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Fee tracking and account updates require timely, auditable information.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72B177-3FF0-4F45-9DA5-1A8EBCA2B482}"/>
              </a:ext>
            </a:extLst>
          </p:cNvPr>
          <p:cNvSpPr>
            <a:spLocks noGrp="1"/>
          </p:cNvSpPr>
          <p:nvPr/>
        </p:nvSpPr>
        <p:spPr>
          <a:xfrm>
            <a:off x="8324850" y="23812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880D2B-E467-4C57-A81C-0F492A4E6064}"/>
              </a:ext>
            </a:extLst>
          </p:cNvPr>
          <p:cNvSpPr>
            <a:spLocks noGrp="1"/>
          </p:cNvSpPr>
          <p:nvPr/>
        </p:nvSpPr>
        <p:spPr>
          <a:xfrm>
            <a:off x="8515350" y="25717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8C01E2-E312-40C6-8581-FDC7953E3AD4}"/>
              </a:ext>
            </a:extLst>
          </p:cNvPr>
          <p:cNvSpPr>
            <a:spLocks noGrp="1"/>
          </p:cNvSpPr>
          <p:nvPr/>
        </p:nvSpPr>
        <p:spPr>
          <a:xfrm>
            <a:off x="8515350" y="26289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⌖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7DF39D-3072-4397-B8E3-B730D05C84FB}"/>
              </a:ext>
            </a:extLst>
          </p:cNvPr>
          <p:cNvSpPr>
            <a:spLocks noGrp="1"/>
          </p:cNvSpPr>
          <p:nvPr/>
        </p:nvSpPr>
        <p:spPr>
          <a:xfrm>
            <a:off x="9144000" y="26098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Campus coordination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AFE4A0-8B70-423C-9B82-20E8A19FB181}"/>
              </a:ext>
            </a:extLst>
          </p:cNvPr>
          <p:cNvSpPr>
            <a:spLocks noGrp="1"/>
          </p:cNvSpPr>
          <p:nvPr/>
        </p:nvSpPr>
        <p:spPr>
          <a:xfrm>
            <a:off x="9144000" y="29146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Transport, hostel and service teams need shared real-time context.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2E274E-31F5-42B4-AF43-28C7B64704AB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FIC ERP brings these critical workflows into a single, role-aware platform.</a:t>
            </a:r>
          </a:p>
        </p:txBody>
      </p:sp>
    </p:spTree>
    <p:extLst>
      <p:ext uri="{BB962C8B-B14F-4D97-AF65-F5344CB8AC3E}">
        <p14:creationId xmlns:p14="http://schemas.microsoft.com/office/powerpoint/2010/main" val="177264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09CD74B-3ECD-4973-B039-5587A84B4A5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THE 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181E8-AAD1-48D4-B9AC-93803ECE449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digital campus, built around every stakeholder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6B4A08-D551-42DD-B0ED-E3F3C1C379E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C91BD7-DEEB-4632-92A1-B877D985B073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23DD1-C85C-4F71-9359-11D4A22E7034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58E311-A8AC-4DC7-A9FE-E8098E90F09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 connects people, processes and data across the college ecosystem.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0BA07D-3058-40EA-9D0E-62E4617AE685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83EF5-D450-42EC-88F2-4F2FAC18E993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139075-66DD-444D-AD10-7DA629444B6D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Governance &amp; control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2DD2FF-3047-4BE3-8493-665AC096E1F0}"/>
              </a:ext>
            </a:extLst>
          </p:cNvPr>
          <p:cNvSpPr>
            <a:spLocks noGrp="1"/>
          </p:cNvSpPr>
          <p:nvPr/>
        </p:nvSpPr>
        <p:spPr>
          <a:xfrm>
            <a:off x="3429000" y="260032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CEA18F-F6B9-45BA-8652-0F12C3C03D2F}"/>
              </a:ext>
            </a:extLst>
          </p:cNvPr>
          <p:cNvSpPr>
            <a:spLocks noGrp="1"/>
          </p:cNvSpPr>
          <p:nvPr/>
        </p:nvSpPr>
        <p:spPr>
          <a:xfrm>
            <a:off x="4305300" y="234315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7EB9D0-D736-453E-80CC-1FFF082B30E6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48951D-4585-430E-9052-3A744848D27C}"/>
              </a:ext>
            </a:extLst>
          </p:cNvPr>
          <p:cNvSpPr>
            <a:spLocks noGrp="1"/>
          </p:cNvSpPr>
          <p:nvPr/>
        </p:nvSpPr>
        <p:spPr>
          <a:xfrm>
            <a:off x="4514850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Academic oversight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0473AA-57B5-4C3D-A829-C8C478549B7B}"/>
              </a:ext>
            </a:extLst>
          </p:cNvPr>
          <p:cNvSpPr>
            <a:spLocks noGrp="1"/>
          </p:cNvSpPr>
          <p:nvPr/>
        </p:nvSpPr>
        <p:spPr>
          <a:xfrm>
            <a:off x="7048500" y="260032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BD21AD-5685-4033-BB85-1475160AFD3F}"/>
              </a:ext>
            </a:extLst>
          </p:cNvPr>
          <p:cNvSpPr>
            <a:spLocks noGrp="1"/>
          </p:cNvSpPr>
          <p:nvPr/>
        </p:nvSpPr>
        <p:spPr>
          <a:xfrm>
            <a:off x="7924800" y="234315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1C490-C642-4083-A739-25DC372DBA45}"/>
              </a:ext>
            </a:extLst>
          </p:cNvPr>
          <p:cNvSpPr>
            <a:spLocks noGrp="1"/>
          </p:cNvSpPr>
          <p:nvPr/>
        </p:nvSpPr>
        <p:spPr>
          <a:xfrm>
            <a:off x="813435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C9197F-7593-49C1-A2A1-8EE1667BDC2B}"/>
              </a:ext>
            </a:extLst>
          </p:cNvPr>
          <p:cNvSpPr>
            <a:spLocks noGrp="1"/>
          </p:cNvSpPr>
          <p:nvPr/>
        </p:nvSpPr>
        <p:spPr>
          <a:xfrm>
            <a:off x="8134350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Daily execution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5C94E2-889F-4764-92B0-2C44DC14FAD8}"/>
              </a:ext>
            </a:extLst>
          </p:cNvPr>
          <p:cNvSpPr>
            <a:spLocks noGrp="1"/>
          </p:cNvSpPr>
          <p:nvPr/>
        </p:nvSpPr>
        <p:spPr>
          <a:xfrm>
            <a:off x="10668000" y="260032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9E11348-21DF-4A04-9217-88AACACD8218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2E526E-D954-43A3-9024-44E35CAA8C4E}"/>
              </a:ext>
            </a:extLst>
          </p:cNvPr>
          <p:cNvSpPr>
            <a:spLocks noGrp="1"/>
          </p:cNvSpPr>
          <p:nvPr/>
        </p:nvSpPr>
        <p:spPr>
          <a:xfrm>
            <a:off x="895350" y="3981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9579F-C575-4B0E-AB8F-25F05A060312}"/>
              </a:ext>
            </a:extLst>
          </p:cNvPr>
          <p:cNvSpPr>
            <a:spLocks noGrp="1"/>
          </p:cNvSpPr>
          <p:nvPr/>
        </p:nvSpPr>
        <p:spPr>
          <a:xfrm>
            <a:off x="895350" y="43243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Self-service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A3BE60-A629-4CB0-97D6-E3DD7AF1E4C3}"/>
              </a:ext>
            </a:extLst>
          </p:cNvPr>
          <p:cNvSpPr>
            <a:spLocks noGrp="1"/>
          </p:cNvSpPr>
          <p:nvPr/>
        </p:nvSpPr>
        <p:spPr>
          <a:xfrm>
            <a:off x="3429000" y="402907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0F7FA"/>
          </a:solidFill>
          <a:ln w="0">
            <a:noFill/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CD2E991-1592-4A3A-AF98-48C4701DD3DA}"/>
              </a:ext>
            </a:extLst>
          </p:cNvPr>
          <p:cNvSpPr>
            <a:spLocks noGrp="1"/>
          </p:cNvSpPr>
          <p:nvPr/>
        </p:nvSpPr>
        <p:spPr>
          <a:xfrm>
            <a:off x="4305300" y="377190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A4CAC3-C029-4D7B-A48E-F8D5CA7C54C6}"/>
              </a:ext>
            </a:extLst>
          </p:cNvPr>
          <p:cNvSpPr>
            <a:spLocks noGrp="1"/>
          </p:cNvSpPr>
          <p:nvPr/>
        </p:nvSpPr>
        <p:spPr>
          <a:xfrm>
            <a:off x="4514850" y="3981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10480A-E603-4091-9F14-49AB5775D5E8}"/>
              </a:ext>
            </a:extLst>
          </p:cNvPr>
          <p:cNvSpPr>
            <a:spLocks noGrp="1"/>
          </p:cNvSpPr>
          <p:nvPr/>
        </p:nvSpPr>
        <p:spPr>
          <a:xfrm>
            <a:off x="4514850" y="43243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Visibility &amp; support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1E0D47-736F-40D0-AE5B-8C72BC8F1175}"/>
              </a:ext>
            </a:extLst>
          </p:cNvPr>
          <p:cNvSpPr>
            <a:spLocks noGrp="1"/>
          </p:cNvSpPr>
          <p:nvPr/>
        </p:nvSpPr>
        <p:spPr>
          <a:xfrm>
            <a:off x="7048500" y="402907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0F7FA"/>
          </a:solidFill>
          <a:ln w="0">
            <a:noFill/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5B983A4-2995-4D0B-ACD0-4BD4FF69F1B1}"/>
              </a:ext>
            </a:extLst>
          </p:cNvPr>
          <p:cNvSpPr>
            <a:spLocks noGrp="1"/>
          </p:cNvSpPr>
          <p:nvPr/>
        </p:nvSpPr>
        <p:spPr>
          <a:xfrm>
            <a:off x="7924800" y="3771900"/>
            <a:ext cx="32385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025CF4-1481-49DB-A875-9D85A2D474BE}"/>
              </a:ext>
            </a:extLst>
          </p:cNvPr>
          <p:cNvSpPr>
            <a:spLocks noGrp="1"/>
          </p:cNvSpPr>
          <p:nvPr/>
        </p:nvSpPr>
        <p:spPr>
          <a:xfrm>
            <a:off x="8134350" y="3981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937AC3-51F9-4B29-BFB4-08277259C67F}"/>
              </a:ext>
            </a:extLst>
          </p:cNvPr>
          <p:cNvSpPr>
            <a:spLocks noGrp="1"/>
          </p:cNvSpPr>
          <p:nvPr/>
        </p:nvSpPr>
        <p:spPr>
          <a:xfrm>
            <a:off x="8134350" y="43243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Financial control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7B72D43-547D-4061-B86C-15493B8C733A}"/>
              </a:ext>
            </a:extLst>
          </p:cNvPr>
          <p:cNvSpPr>
            <a:spLocks noGrp="1"/>
          </p:cNvSpPr>
          <p:nvPr/>
        </p:nvSpPr>
        <p:spPr>
          <a:xfrm>
            <a:off x="10668000" y="402907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E0F7FA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79A845-10A9-4AEB-96C8-1A8A3FD27BBD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Each experience is designed for the decisions users need to make—not for a generic dashboard.</a:t>
            </a:r>
          </a:p>
        </p:txBody>
      </p:sp>
    </p:spTree>
    <p:extLst>
      <p:ext uri="{BB962C8B-B14F-4D97-AF65-F5344CB8AC3E}">
        <p14:creationId xmlns:p14="http://schemas.microsoft.com/office/powerpoint/2010/main" val="149081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D8EBE3D-49C0-4F4D-BA00-111C2943BE6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PLATFORM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6287F-6FDB-45CD-9476-9B5A0292888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complete operating layer for modern institutions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A13689-692C-4124-A3A7-03D1A0178B4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C26AE9-3470-4D66-A09C-835E76C19294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C1682-928C-4E66-899F-62F00CA9D6D3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D1FCF-77A1-46DD-B4FF-A1ACFCB8E3B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0470E4-FFB0-4132-A93D-808ACCDB5C95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EC631C-CA75-4A84-9A01-12D2B8E26FCF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⌘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2E002-D626-4C28-9E05-DEE3251FC83B}"/>
              </a:ext>
            </a:extLst>
          </p:cNvPr>
          <p:cNvSpPr>
            <a:spLocks noGrp="1"/>
          </p:cNvSpPr>
          <p:nvPr/>
        </p:nvSpPr>
        <p:spPr>
          <a:xfrm>
            <a:off x="1504950" y="190500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Assistant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FC6623-9451-462A-ABB6-2CA7DACBA071}"/>
              </a:ext>
            </a:extLst>
          </p:cNvPr>
          <p:cNvSpPr>
            <a:spLocks noGrp="1"/>
          </p:cNvSpPr>
          <p:nvPr/>
        </p:nvSpPr>
        <p:spPr>
          <a:xfrm>
            <a:off x="1504950" y="22098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Answers, insights and guided actions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0B2207-B065-4106-94C0-FB613BE48F2A}"/>
              </a:ext>
            </a:extLst>
          </p:cNvPr>
          <p:cNvSpPr>
            <a:spLocks noGrp="1"/>
          </p:cNvSpPr>
          <p:nvPr/>
        </p:nvSpPr>
        <p:spPr>
          <a:xfrm>
            <a:off x="4305300" y="167640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D10381-6302-4586-BB1F-128CE2DF8ED9}"/>
              </a:ext>
            </a:extLst>
          </p:cNvPr>
          <p:cNvSpPr>
            <a:spLocks noGrp="1"/>
          </p:cNvSpPr>
          <p:nvPr/>
        </p:nvSpPr>
        <p:spPr>
          <a:xfrm>
            <a:off x="4495800" y="18669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2B084-1EC7-48AD-8429-BDA0C8B51227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BC610-B9DE-42B3-80EC-DAD37F511C2B}"/>
              </a:ext>
            </a:extLst>
          </p:cNvPr>
          <p:cNvSpPr>
            <a:spLocks noGrp="1"/>
          </p:cNvSpPr>
          <p:nvPr/>
        </p:nvSpPr>
        <p:spPr>
          <a:xfrm>
            <a:off x="5124450" y="190500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 Attendance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4DB64-BEA3-460D-96ED-2293E283A39C}"/>
              </a:ext>
            </a:extLst>
          </p:cNvPr>
          <p:cNvSpPr>
            <a:spLocks noGrp="1"/>
          </p:cNvSpPr>
          <p:nvPr/>
        </p:nvSpPr>
        <p:spPr>
          <a:xfrm>
            <a:off x="5124450" y="22098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QR-based scanning and status visibility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EA64A6-460D-4DC3-8B64-F76AF5906C4B}"/>
              </a:ext>
            </a:extLst>
          </p:cNvPr>
          <p:cNvSpPr>
            <a:spLocks noGrp="1"/>
          </p:cNvSpPr>
          <p:nvPr/>
        </p:nvSpPr>
        <p:spPr>
          <a:xfrm>
            <a:off x="7924800" y="167640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B884B6-7722-430B-949E-5554A877CDC0}"/>
              </a:ext>
            </a:extLst>
          </p:cNvPr>
          <p:cNvSpPr>
            <a:spLocks noGrp="1"/>
          </p:cNvSpPr>
          <p:nvPr/>
        </p:nvSpPr>
        <p:spPr>
          <a:xfrm>
            <a:off x="8115300" y="18669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D7F9EA-6869-43B9-BFDC-8FF2F61A638E}"/>
              </a:ext>
            </a:extLst>
          </p:cNvPr>
          <p:cNvSpPr>
            <a:spLocks noGrp="1"/>
          </p:cNvSpPr>
          <p:nvPr/>
        </p:nvSpPr>
        <p:spPr>
          <a:xfrm>
            <a:off x="8115300" y="19240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09FC92-FED6-4B7A-B788-5CF09465CA96}"/>
              </a:ext>
            </a:extLst>
          </p:cNvPr>
          <p:cNvSpPr>
            <a:spLocks noGrp="1"/>
          </p:cNvSpPr>
          <p:nvPr/>
        </p:nvSpPr>
        <p:spPr>
          <a:xfrm>
            <a:off x="8743950" y="190500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Transport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5341B-FB6F-44E7-8DBA-82F694DDFF65}"/>
              </a:ext>
            </a:extLst>
          </p:cNvPr>
          <p:cNvSpPr>
            <a:spLocks noGrp="1"/>
          </p:cNvSpPr>
          <p:nvPr/>
        </p:nvSpPr>
        <p:spPr>
          <a:xfrm>
            <a:off x="8743950" y="22098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Location-aware bus monitoring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5D5898-B537-4F14-BE40-F564B4DB204D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4FF720-0306-4DF8-8E27-29494ED5EDAA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C0672A-93AE-410A-9F30-B9DBFB6B7DB8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▥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79AE64-D3FA-4FD7-ABF5-27AE2CBB571C}"/>
              </a:ext>
            </a:extLst>
          </p:cNvPr>
          <p:cNvSpPr>
            <a:spLocks noGrp="1"/>
          </p:cNvSpPr>
          <p:nvPr/>
        </p:nvSpPr>
        <p:spPr>
          <a:xfrm>
            <a:off x="1504950" y="35242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Real-Time Analytics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BD6909-48D8-4D51-B5FB-36EC585F431B}"/>
              </a:ext>
            </a:extLst>
          </p:cNvPr>
          <p:cNvSpPr>
            <a:spLocks noGrp="1"/>
          </p:cNvSpPr>
          <p:nvPr/>
        </p:nvSpPr>
        <p:spPr>
          <a:xfrm>
            <a:off x="1504950" y="38290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Operational insight at a glance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49D26D-17CC-4107-B426-181C847FF956}"/>
              </a:ext>
            </a:extLst>
          </p:cNvPr>
          <p:cNvSpPr>
            <a:spLocks noGrp="1"/>
          </p:cNvSpPr>
          <p:nvPr/>
        </p:nvSpPr>
        <p:spPr>
          <a:xfrm>
            <a:off x="4305300" y="32956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0F6AD76-F096-4401-B4E7-88D83151AA86}"/>
              </a:ext>
            </a:extLst>
          </p:cNvPr>
          <p:cNvSpPr>
            <a:spLocks noGrp="1"/>
          </p:cNvSpPr>
          <p:nvPr/>
        </p:nvSpPr>
        <p:spPr>
          <a:xfrm>
            <a:off x="4495800" y="34861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04CFD1-811F-4FC9-B3CA-73A2D93E0016}"/>
              </a:ext>
            </a:extLst>
          </p:cNvPr>
          <p:cNvSpPr>
            <a:spLocks noGrp="1"/>
          </p:cNvSpPr>
          <p:nvPr/>
        </p:nvSpPr>
        <p:spPr>
          <a:xfrm>
            <a:off x="4495800" y="35433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AB983A-8FCF-4629-BF34-27A248CF92D6}"/>
              </a:ext>
            </a:extLst>
          </p:cNvPr>
          <p:cNvSpPr>
            <a:spLocks noGrp="1"/>
          </p:cNvSpPr>
          <p:nvPr/>
        </p:nvSpPr>
        <p:spPr>
          <a:xfrm>
            <a:off x="5124450" y="35242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Fees &amp; Accounts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723454-D4CE-46D9-A878-F8B0B86F0DD3}"/>
              </a:ext>
            </a:extLst>
          </p:cNvPr>
          <p:cNvSpPr>
            <a:spLocks noGrp="1"/>
          </p:cNvSpPr>
          <p:nvPr/>
        </p:nvSpPr>
        <p:spPr>
          <a:xfrm>
            <a:off x="5124450" y="38290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Financial workflows and records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270095-83C3-49CF-9812-405BCC428A86}"/>
              </a:ext>
            </a:extLst>
          </p:cNvPr>
          <p:cNvSpPr>
            <a:spLocks noGrp="1"/>
          </p:cNvSpPr>
          <p:nvPr/>
        </p:nvSpPr>
        <p:spPr>
          <a:xfrm>
            <a:off x="7924800" y="3295650"/>
            <a:ext cx="31813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D516B7A-DB40-4B4A-8514-E7087B2E0E4C}"/>
              </a:ext>
            </a:extLst>
          </p:cNvPr>
          <p:cNvSpPr>
            <a:spLocks noGrp="1"/>
          </p:cNvSpPr>
          <p:nvPr/>
        </p:nvSpPr>
        <p:spPr>
          <a:xfrm>
            <a:off x="8115300" y="34861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A6E3B8-1B23-44E9-A05F-41B3D669D2BB}"/>
              </a:ext>
            </a:extLst>
          </p:cNvPr>
          <p:cNvSpPr>
            <a:spLocks noGrp="1"/>
          </p:cNvSpPr>
          <p:nvPr/>
        </p:nvSpPr>
        <p:spPr>
          <a:xfrm>
            <a:off x="8115300" y="35433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◈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556D0E-755D-4AC0-BF8C-282B92DC5276}"/>
              </a:ext>
            </a:extLst>
          </p:cNvPr>
          <p:cNvSpPr>
            <a:spLocks noGrp="1"/>
          </p:cNvSpPr>
          <p:nvPr/>
        </p:nvSpPr>
        <p:spPr>
          <a:xfrm>
            <a:off x="8743950" y="35242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Role-Based Access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10ED8D-0B8A-428E-A1E1-AA7490284471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experience for every user</a:t>
            </a:r>
          </a:p>
        </p:txBody>
      </p:sp>
    </p:spTree>
    <p:extLst>
      <p:ext uri="{BB962C8B-B14F-4D97-AF65-F5344CB8AC3E}">
        <p14:creationId xmlns:p14="http://schemas.microsoft.com/office/powerpoint/2010/main" val="174263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2D542CB-89EC-472E-AF59-D6D0D2031CE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EXPERIENCE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754B78-A195-461C-8F7D-4CE8F27998E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right information reaches the right role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3E323E-7FAF-4E29-9911-681207BCA20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E04305-F37B-4100-9056-85BE44CEBA8A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6C835-445E-48D3-9E1E-E7AB952BC1D8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32E0E-DF54-4BCF-B9D0-CC47098E4A8E}"/>
              </a:ext>
            </a:extLst>
          </p:cNvPr>
          <p:cNvSpPr>
            <a:spLocks noGrp="1"/>
          </p:cNvSpPr>
          <p:nvPr/>
        </p:nvSpPr>
        <p:spPr>
          <a:xfrm>
            <a:off x="1219200" y="2000250"/>
            <a:ext cx="9753600" cy="257175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2BEF63-E045-4534-B1E0-1DA105D652E3}"/>
              </a:ext>
            </a:extLst>
          </p:cNvPr>
          <p:cNvSpPr>
            <a:spLocks noGrp="1"/>
          </p:cNvSpPr>
          <p:nvPr/>
        </p:nvSpPr>
        <p:spPr>
          <a:xfrm>
            <a:off x="158115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C1A6E-E9A1-48A0-95A9-0C62044E1630}"/>
              </a:ext>
            </a:extLst>
          </p:cNvPr>
          <p:cNvSpPr>
            <a:spLocks noGrp="1"/>
          </p:cNvSpPr>
          <p:nvPr/>
        </p:nvSpPr>
        <p:spPr>
          <a:xfrm>
            <a:off x="158115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2F77FC-5259-4C0E-90D5-6197E41A94D4}"/>
              </a:ext>
            </a:extLst>
          </p:cNvPr>
          <p:cNvSpPr>
            <a:spLocks noGrp="1"/>
          </p:cNvSpPr>
          <p:nvPr/>
        </p:nvSpPr>
        <p:spPr>
          <a:xfrm>
            <a:off x="2695575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052FA5-7CA5-4CA1-BFC4-D38ED85CEBC6}"/>
              </a:ext>
            </a:extLst>
          </p:cNvPr>
          <p:cNvSpPr>
            <a:spLocks noGrp="1"/>
          </p:cNvSpPr>
          <p:nvPr/>
        </p:nvSpPr>
        <p:spPr>
          <a:xfrm>
            <a:off x="308610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826C3-6AD7-4945-B520-6962B6DFB17C}"/>
              </a:ext>
            </a:extLst>
          </p:cNvPr>
          <p:cNvSpPr>
            <a:spLocks noGrp="1"/>
          </p:cNvSpPr>
          <p:nvPr/>
        </p:nvSpPr>
        <p:spPr>
          <a:xfrm>
            <a:off x="308610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ADF79-7F85-461F-9474-0AE0C0DDCC8D}"/>
              </a:ext>
            </a:extLst>
          </p:cNvPr>
          <p:cNvSpPr>
            <a:spLocks noGrp="1"/>
          </p:cNvSpPr>
          <p:nvPr/>
        </p:nvSpPr>
        <p:spPr>
          <a:xfrm>
            <a:off x="4200525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A8156AB-4A6D-4DCD-9C39-B7C27EF56358}"/>
              </a:ext>
            </a:extLst>
          </p:cNvPr>
          <p:cNvSpPr>
            <a:spLocks noGrp="1"/>
          </p:cNvSpPr>
          <p:nvPr/>
        </p:nvSpPr>
        <p:spPr>
          <a:xfrm>
            <a:off x="459105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9CADCE-A985-45DF-9D4F-8225A46800FA}"/>
              </a:ext>
            </a:extLst>
          </p:cNvPr>
          <p:cNvSpPr>
            <a:spLocks noGrp="1"/>
          </p:cNvSpPr>
          <p:nvPr/>
        </p:nvSpPr>
        <p:spPr>
          <a:xfrm>
            <a:off x="459105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4934A-02AC-46A0-8377-47FD4C5B17F8}"/>
              </a:ext>
            </a:extLst>
          </p:cNvPr>
          <p:cNvSpPr>
            <a:spLocks noGrp="1"/>
          </p:cNvSpPr>
          <p:nvPr/>
        </p:nvSpPr>
        <p:spPr>
          <a:xfrm>
            <a:off x="5705475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90E7B0-B4D2-4D83-8BAF-3587AD8493DC}"/>
              </a:ext>
            </a:extLst>
          </p:cNvPr>
          <p:cNvSpPr>
            <a:spLocks noGrp="1"/>
          </p:cNvSpPr>
          <p:nvPr/>
        </p:nvSpPr>
        <p:spPr>
          <a:xfrm>
            <a:off x="609600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B0FDF6-8FD8-403A-97A2-28CF7BA4949A}"/>
              </a:ext>
            </a:extLst>
          </p:cNvPr>
          <p:cNvSpPr>
            <a:spLocks noGrp="1"/>
          </p:cNvSpPr>
          <p:nvPr/>
        </p:nvSpPr>
        <p:spPr>
          <a:xfrm>
            <a:off x="609600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7B7AC-FD1A-4965-AAC6-11E1A38E8FCA}"/>
              </a:ext>
            </a:extLst>
          </p:cNvPr>
          <p:cNvSpPr>
            <a:spLocks noGrp="1"/>
          </p:cNvSpPr>
          <p:nvPr/>
        </p:nvSpPr>
        <p:spPr>
          <a:xfrm>
            <a:off x="7210425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0EFB608-A201-4808-B878-5DC7C6E001E2}"/>
              </a:ext>
            </a:extLst>
          </p:cNvPr>
          <p:cNvSpPr>
            <a:spLocks noGrp="1"/>
          </p:cNvSpPr>
          <p:nvPr/>
        </p:nvSpPr>
        <p:spPr>
          <a:xfrm>
            <a:off x="760095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C32BF0-EA7A-49E0-91F5-D1D8FA02EEF8}"/>
              </a:ext>
            </a:extLst>
          </p:cNvPr>
          <p:cNvSpPr>
            <a:spLocks noGrp="1"/>
          </p:cNvSpPr>
          <p:nvPr/>
        </p:nvSpPr>
        <p:spPr>
          <a:xfrm>
            <a:off x="760095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FC28EF-9990-41DD-B9C9-D1E2A9030365}"/>
              </a:ext>
            </a:extLst>
          </p:cNvPr>
          <p:cNvSpPr>
            <a:spLocks noGrp="1"/>
          </p:cNvSpPr>
          <p:nvPr/>
        </p:nvSpPr>
        <p:spPr>
          <a:xfrm>
            <a:off x="8715375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975905-81DA-44B6-8CD3-AA194A736522}"/>
              </a:ext>
            </a:extLst>
          </p:cNvPr>
          <p:cNvSpPr>
            <a:spLocks noGrp="1"/>
          </p:cNvSpPr>
          <p:nvPr/>
        </p:nvSpPr>
        <p:spPr>
          <a:xfrm>
            <a:off x="9105900" y="2647950"/>
            <a:ext cx="11049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63DD66-0091-45F6-AD88-9F02EF9A156A}"/>
              </a:ext>
            </a:extLst>
          </p:cNvPr>
          <p:cNvSpPr>
            <a:spLocks noGrp="1"/>
          </p:cNvSpPr>
          <p:nvPr/>
        </p:nvSpPr>
        <p:spPr>
          <a:xfrm>
            <a:off x="9105900" y="3886200"/>
            <a:ext cx="1104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2192E2-99F6-4C43-9366-376CA3B3EC51}"/>
              </a:ext>
            </a:extLst>
          </p:cNvPr>
          <p:cNvSpPr>
            <a:spLocks noGrp="1"/>
          </p:cNvSpPr>
          <p:nvPr/>
        </p:nvSpPr>
        <p:spPr>
          <a:xfrm>
            <a:off x="1771650" y="5219700"/>
            <a:ext cx="864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Role-based access keeps each workspace focused, secure and easy to use.</a:t>
            </a:r>
          </a:p>
        </p:txBody>
      </p:sp>
    </p:spTree>
    <p:extLst>
      <p:ext uri="{BB962C8B-B14F-4D97-AF65-F5344CB8AC3E}">
        <p14:creationId xmlns:p14="http://schemas.microsoft.com/office/powerpoint/2010/main" val="140148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89B97EE-4DB9-40C7-BACD-513257CD73A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517D3-705E-4533-A76D-46C8CDB53D0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command center for institutional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CB8EDF-37CB-4ACF-82E5-58B0E412739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82EB9A-2FCC-455A-9959-823E237A58FD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9F303-9890-4B8F-B61B-B23FE43E6CC3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CA77E-BFA7-4EB0-9043-88E2997743A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23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Administrators gain a single view of the campus—from operations to governance.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66A5CD-3A3D-4752-8EC3-F6082650D0E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E413E8-5832-41ED-A2C2-4167584F6BE3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5AC5B-6CC7-40AB-8DAA-BD22C9C8AF41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▤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F52AB8-9D8D-40EB-956C-95FA803BD405}"/>
              </a:ext>
            </a:extLst>
          </p:cNvPr>
          <p:cNvSpPr>
            <a:spLocks noGrp="1"/>
          </p:cNvSpPr>
          <p:nvPr/>
        </p:nvSpPr>
        <p:spPr>
          <a:xfrm>
            <a:off x="1504950" y="2495550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Central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4E8C7-DBFD-4FA8-A3A7-85A871DE7C63}"/>
              </a:ext>
            </a:extLst>
          </p:cNvPr>
          <p:cNvSpPr>
            <a:spLocks noGrp="1"/>
          </p:cNvSpPr>
          <p:nvPr/>
        </p:nvSpPr>
        <p:spPr>
          <a:xfrm>
            <a:off x="1504950" y="280035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Monitor key activity and campus-wide operational signals.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D4173B-57B1-4060-BF00-A5CEB49C0E86}"/>
              </a:ext>
            </a:extLst>
          </p:cNvPr>
          <p:cNvSpPr>
            <a:spLocks noGrp="1"/>
          </p:cNvSpPr>
          <p:nvPr/>
        </p:nvSpPr>
        <p:spPr>
          <a:xfrm>
            <a:off x="4429125" y="226695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06F003-01DD-4A44-9CBC-4A1654287203}"/>
              </a:ext>
            </a:extLst>
          </p:cNvPr>
          <p:cNvSpPr>
            <a:spLocks noGrp="1"/>
          </p:cNvSpPr>
          <p:nvPr/>
        </p:nvSpPr>
        <p:spPr>
          <a:xfrm>
            <a:off x="4619625" y="24574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CBD122-A3C4-44B8-875C-DF23F5FF225A}"/>
              </a:ext>
            </a:extLst>
          </p:cNvPr>
          <p:cNvSpPr>
            <a:spLocks noGrp="1"/>
          </p:cNvSpPr>
          <p:nvPr/>
        </p:nvSpPr>
        <p:spPr>
          <a:xfrm>
            <a:off x="4619625" y="25146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B15A5A-656B-4FF0-9341-308342BC836E}"/>
              </a:ext>
            </a:extLst>
          </p:cNvPr>
          <p:cNvSpPr>
            <a:spLocks noGrp="1"/>
          </p:cNvSpPr>
          <p:nvPr/>
        </p:nvSpPr>
        <p:spPr>
          <a:xfrm>
            <a:off x="5248275" y="2495550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administration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DB015-7FE5-4342-8699-99E7229010E9}"/>
              </a:ext>
            </a:extLst>
          </p:cNvPr>
          <p:cNvSpPr>
            <a:spLocks noGrp="1"/>
          </p:cNvSpPr>
          <p:nvPr/>
        </p:nvSpPr>
        <p:spPr>
          <a:xfrm>
            <a:off x="5248275" y="280035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Manage access across institutional roles and functions.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837887-6956-42E0-BDAA-009E2C66FD02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9573F2-2635-4279-BCD2-A5D352622208}"/>
              </a:ext>
            </a:extLst>
          </p:cNvPr>
          <p:cNvSpPr>
            <a:spLocks noGrp="1"/>
          </p:cNvSpPr>
          <p:nvPr/>
        </p:nvSpPr>
        <p:spPr>
          <a:xfrm>
            <a:off x="8362950" y="24574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FEEA80-9CD1-42B3-93BF-B13FD3F2834A}"/>
              </a:ext>
            </a:extLst>
          </p:cNvPr>
          <p:cNvSpPr>
            <a:spLocks noGrp="1"/>
          </p:cNvSpPr>
          <p:nvPr/>
        </p:nvSpPr>
        <p:spPr>
          <a:xfrm>
            <a:off x="8362950" y="25146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D4ADC-0C16-4274-B7E0-80CD725FE12A}"/>
              </a:ext>
            </a:extLst>
          </p:cNvPr>
          <p:cNvSpPr>
            <a:spLocks noGrp="1"/>
          </p:cNvSpPr>
          <p:nvPr/>
        </p:nvSpPr>
        <p:spPr>
          <a:xfrm>
            <a:off x="8991600" y="2495550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Real-time analytics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9627B2-8B94-4FB7-8295-0C691A6F0483}"/>
              </a:ext>
            </a:extLst>
          </p:cNvPr>
          <p:cNvSpPr>
            <a:spLocks noGrp="1"/>
          </p:cNvSpPr>
          <p:nvPr/>
        </p:nvSpPr>
        <p:spPr>
          <a:xfrm>
            <a:off x="8991600" y="280035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Identify trends without waiting for manual reports.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6DA188-E40D-477F-BA6F-077733998F6C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820400" cy="1200150"/>
          </a:xfrm>
          <a:prstGeom prst="roundRect">
            <a:avLst>
              <a:gd name="adj" fmla="val 9524"/>
            </a:avLst>
          </a:prstGeom>
          <a:solidFill>
            <a:srgbClr val="1E1B4B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F0998B-9C8A-4AE1-81D4-3B29B314890C}"/>
              </a:ext>
            </a:extLst>
          </p:cNvPr>
          <p:cNvSpPr>
            <a:spLocks noGrp="1"/>
          </p:cNvSpPr>
          <p:nvPr/>
        </p:nvSpPr>
        <p:spPr>
          <a:xfrm>
            <a:off x="952500" y="4514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34EBAD-BF57-4E82-8DFF-206EC630EA84}"/>
              </a:ext>
            </a:extLst>
          </p:cNvPr>
          <p:cNvSpPr>
            <a:spLocks noGrp="1"/>
          </p:cNvSpPr>
          <p:nvPr/>
        </p:nvSpPr>
        <p:spPr>
          <a:xfrm>
            <a:off x="952500" y="4867275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oversight, clearer accountability and better-informed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128394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5DBCAD1-1AB2-4BC6-BDDB-4F0BF0ACCE1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ACADEMIC LEADERSHIP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2EE891-44C0-42C6-9F9E-7F50911858C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HODs can turn departmental activity into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F534B-03D4-4B08-8B32-818F7F131F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573A5-274D-4B32-9C1D-006ADC1FDA11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7E830-0E06-4967-8575-4EA4B1ABD9FB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D8F621-684E-4A2C-96EE-E8FA79B9AA8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9530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4D4A3-94E3-485C-98CC-2219A53877CD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Department 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E7C646-FF34-477D-B212-839C13A90042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FDC65-8436-4D05-A9AB-9AA0AEFD1DBB}"/>
              </a:ext>
            </a:extLst>
          </p:cNvPr>
          <p:cNvSpPr>
            <a:spLocks noGrp="1"/>
          </p:cNvSpPr>
          <p:nvPr/>
        </p:nvSpPr>
        <p:spPr>
          <a:xfrm>
            <a:off x="1162050" y="2543175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Track academic progress and attendance patterns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16D8D3-02BE-4EF3-B3E7-AD5A051921ED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14745D-E618-46FB-BDF2-32641A07BB1A}"/>
              </a:ext>
            </a:extLst>
          </p:cNvPr>
          <p:cNvSpPr>
            <a:spLocks noGrp="1"/>
          </p:cNvSpPr>
          <p:nvPr/>
        </p:nvSpPr>
        <p:spPr>
          <a:xfrm>
            <a:off x="1162050" y="3038475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Coordinate faculty and student-facing academic 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7911DF-BD88-4754-BDA3-0C90C8F97C10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03758-0904-4A84-B5E5-A2AC51C9B860}"/>
              </a:ext>
            </a:extLst>
          </p:cNvPr>
          <p:cNvSpPr>
            <a:spLocks noGrp="1"/>
          </p:cNvSpPr>
          <p:nvPr/>
        </p:nvSpPr>
        <p:spPr>
          <a:xfrm>
            <a:off x="1162050" y="3533775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analytics to spot priorities early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67083B-4801-4D30-9A56-26FFC1F3E11F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410200" cy="3581400"/>
          </a:xfrm>
          <a:prstGeom prst="roundRect">
            <a:avLst>
              <a:gd name="adj" fmla="val 3191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49FF7-F3E6-41C6-B514-A764B408ED38}"/>
              </a:ext>
            </a:extLst>
          </p:cNvPr>
          <p:cNvSpPr>
            <a:spLocks noGrp="1"/>
          </p:cNvSpPr>
          <p:nvPr/>
        </p:nvSpPr>
        <p:spPr>
          <a:xfrm>
            <a:off x="6438900" y="1924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1A2B-A314-4AE6-B996-90E7DABDB3AA}"/>
              </a:ext>
            </a:extLst>
          </p:cNvPr>
          <p:cNvSpPr>
            <a:spLocks noGrp="1"/>
          </p:cNvSpPr>
          <p:nvPr/>
        </p:nvSpPr>
        <p:spPr>
          <a:xfrm>
            <a:off x="6438900" y="2609850"/>
            <a:ext cx="44005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Leadership moves from collecting updates to using live information for academic decisions.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4100F-3E67-4BF9-9E80-759386D6816F}"/>
              </a:ext>
            </a:extLst>
          </p:cNvPr>
          <p:cNvSpPr>
            <a:spLocks noGrp="1"/>
          </p:cNvSpPr>
          <p:nvPr/>
        </p:nvSpPr>
        <p:spPr>
          <a:xfrm>
            <a:off x="6438900" y="423862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Focused visibility. Timely intervention. Stronger academic outcomes.</a:t>
            </a:r>
          </a:p>
        </p:txBody>
      </p:sp>
    </p:spTree>
    <p:extLst>
      <p:ext uri="{BB962C8B-B14F-4D97-AF65-F5344CB8AC3E}">
        <p14:creationId xmlns:p14="http://schemas.microsoft.com/office/powerpoint/2010/main" val="206854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B1EA462-91D9-4536-A8AA-4E56BBF24E9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FACULTY &amp; STAFF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10B54E-89AA-49E4-A4F0-300CA951AE5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Everyday academic work becomes simpler to manage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DE4C9-613B-4877-BD14-0A160C4BFE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B74C7F-C371-4C9E-97C0-3BB56BA8F979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EDA39-35E7-4B4C-BBD2-2D93AC176830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3E684F-4EB5-4784-9E20-CFDAC00EF81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1244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8994C7-E46F-4BDF-9476-0D3FF14B8416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18532-3762-4368-8272-3E4254C0BC89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E7710-AC7C-4837-9120-A13F031A790F}"/>
              </a:ext>
            </a:extLst>
          </p:cNvPr>
          <p:cNvSpPr>
            <a:spLocks noGrp="1"/>
          </p:cNvSpPr>
          <p:nvPr/>
        </p:nvSpPr>
        <p:spPr>
          <a:xfrm>
            <a:off x="1504950" y="20383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400D5-F124-45B8-9E51-AE235502601F}"/>
              </a:ext>
            </a:extLst>
          </p:cNvPr>
          <p:cNvSpPr>
            <a:spLocks noGrp="1"/>
          </p:cNvSpPr>
          <p:nvPr/>
        </p:nvSpPr>
        <p:spPr>
          <a:xfrm>
            <a:off x="1504950" y="23431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Capture and review student attendance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BC772A-ACA7-4085-9539-517F4D4A06D9}"/>
              </a:ext>
            </a:extLst>
          </p:cNvPr>
          <p:cNvSpPr>
            <a:spLocks noGrp="1"/>
          </p:cNvSpPr>
          <p:nvPr/>
        </p:nvSpPr>
        <p:spPr>
          <a:xfrm>
            <a:off x="6115050" y="1809750"/>
            <a:ext cx="51244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0DAAC3-5531-43A1-9122-2C14B333B72C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997CE7-EC84-4F7C-8A58-325474871D26}"/>
              </a:ext>
            </a:extLst>
          </p:cNvPr>
          <p:cNvSpPr>
            <a:spLocks noGrp="1"/>
          </p:cNvSpPr>
          <p:nvPr/>
        </p:nvSpPr>
        <p:spPr>
          <a:xfrm>
            <a:off x="6305550" y="205740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B02BC-A761-4F92-83D3-925DFC49219C}"/>
              </a:ext>
            </a:extLst>
          </p:cNvPr>
          <p:cNvSpPr>
            <a:spLocks noGrp="1"/>
          </p:cNvSpPr>
          <p:nvPr/>
        </p:nvSpPr>
        <p:spPr>
          <a:xfrm>
            <a:off x="6934200" y="20383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Academic records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75189-2040-499A-BB22-8907D6F9F8A9}"/>
              </a:ext>
            </a:extLst>
          </p:cNvPr>
          <p:cNvSpPr>
            <a:spLocks noGrp="1"/>
          </p:cNvSpPr>
          <p:nvPr/>
        </p:nvSpPr>
        <p:spPr>
          <a:xfrm>
            <a:off x="6934200" y="23431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Work with relevant student information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25BA4A-1AD4-4071-8E9E-EF515AF4FECB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51244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1D09C9-1A37-4421-BB7A-6E687E2E9DF8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6F49CB-8309-41AD-99A3-16D83F4BFC4A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↔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EED32-0E52-4605-B1E4-C37935BC4CC5}"/>
              </a:ext>
            </a:extLst>
          </p:cNvPr>
          <p:cNvSpPr>
            <a:spLocks noGrp="1"/>
          </p:cNvSpPr>
          <p:nvPr/>
        </p:nvSpPr>
        <p:spPr>
          <a:xfrm>
            <a:off x="1504950" y="36576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updates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457FAB-A687-401A-AB8B-BC826DABCA9E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activities moving with clear status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05745E-E512-4DF3-8A4D-FCD3B974CDD4}"/>
              </a:ext>
            </a:extLst>
          </p:cNvPr>
          <p:cNvSpPr>
            <a:spLocks noGrp="1"/>
          </p:cNvSpPr>
          <p:nvPr/>
        </p:nvSpPr>
        <p:spPr>
          <a:xfrm>
            <a:off x="6115050" y="3429000"/>
            <a:ext cx="51244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8EB61B-083E-4774-990D-FB89E8787F50}"/>
              </a:ext>
            </a:extLst>
          </p:cNvPr>
          <p:cNvSpPr>
            <a:spLocks noGrp="1"/>
          </p:cNvSpPr>
          <p:nvPr/>
        </p:nvSpPr>
        <p:spPr>
          <a:xfrm>
            <a:off x="6305550" y="3619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9801B1-2171-45EA-9E60-074EB7693D82}"/>
              </a:ext>
            </a:extLst>
          </p:cNvPr>
          <p:cNvSpPr>
            <a:spLocks noGrp="1"/>
          </p:cNvSpPr>
          <p:nvPr/>
        </p:nvSpPr>
        <p:spPr>
          <a:xfrm>
            <a:off x="6305550" y="3676650"/>
            <a:ext cx="47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☏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8D6B32-52F0-4EC5-9487-79C566498425}"/>
              </a:ext>
            </a:extLst>
          </p:cNvPr>
          <p:cNvSpPr>
            <a:spLocks noGrp="1"/>
          </p:cNvSpPr>
          <p:nvPr/>
        </p:nvSpPr>
        <p:spPr>
          <a:xfrm>
            <a:off x="6934200" y="36576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Connected communication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F97D4A-3311-4CC1-870C-8C1D2093E5F9}"/>
              </a:ext>
            </a:extLst>
          </p:cNvPr>
          <p:cNvSpPr>
            <a:spLocks noGrp="1"/>
          </p:cNvSpPr>
          <p:nvPr/>
        </p:nvSpPr>
        <p:spPr>
          <a:xfrm>
            <a:off x="6934200" y="39624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Stay aligned with the wider campus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AE9786-83C0-400B-A505-7549B28F87C6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962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Designed to reduce manual follow-ups and keep staff focused on student support.</a:t>
            </a:r>
          </a:p>
        </p:txBody>
      </p:sp>
    </p:spTree>
    <p:extLst>
      <p:ext uri="{BB962C8B-B14F-4D97-AF65-F5344CB8AC3E}">
        <p14:creationId xmlns:p14="http://schemas.microsoft.com/office/powerpoint/2010/main" val="167396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5C77839-F30D-4F40-B668-4E9EC957D97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STUDENT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4415AC-9F05-4FB8-B25B-5322C213396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self-service hub for the student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B5EDE-FB99-432E-93D6-C15EDEF2D57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6DCDB-8CEA-4655-A001-454F6BD25390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1AA59-4116-474D-A753-53E56FC0B010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A6DE4-8957-4C4D-A00E-5DE874969C5D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Students can access the information and services that matter to them in one place.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47B633-DA72-419A-B89B-AFD15A49E4F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762000" cy="51435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CCD30-E664-4F9E-9559-4287911357E6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20BE9-99E9-4EBE-92DD-42DBF310E90B}"/>
              </a:ext>
            </a:extLst>
          </p:cNvPr>
          <p:cNvSpPr>
            <a:spLocks noGrp="1"/>
          </p:cNvSpPr>
          <p:nvPr/>
        </p:nvSpPr>
        <p:spPr>
          <a:xfrm>
            <a:off x="1752600" y="22764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Academic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2D407-23D5-441D-A059-5E360F982DE9}"/>
              </a:ext>
            </a:extLst>
          </p:cNvPr>
          <p:cNvSpPr>
            <a:spLocks noGrp="1"/>
          </p:cNvSpPr>
          <p:nvPr/>
        </p:nvSpPr>
        <p:spPr>
          <a:xfrm>
            <a:off x="5334000" y="2286000"/>
            <a:ext cx="519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updates available without navigating multiple systems.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18FE68-4F3A-4AAC-9733-40439B823C63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762000" cy="51435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A8BEF8-F915-4875-A8C5-C2F3B64725FE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4E1263-DF84-419E-8652-1C4BE8F35790}"/>
              </a:ext>
            </a:extLst>
          </p:cNvPr>
          <p:cNvSpPr>
            <a:spLocks noGrp="1"/>
          </p:cNvSpPr>
          <p:nvPr/>
        </p:nvSpPr>
        <p:spPr>
          <a:xfrm>
            <a:off x="1752600" y="30384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Attendance visibility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A2254D-3761-44F5-81C0-982EB4C9CE34}"/>
              </a:ext>
            </a:extLst>
          </p:cNvPr>
          <p:cNvSpPr>
            <a:spLocks noGrp="1"/>
          </p:cNvSpPr>
          <p:nvPr/>
        </p:nvSpPr>
        <p:spPr>
          <a:xfrm>
            <a:off x="5334000" y="3048000"/>
            <a:ext cx="519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updates available without navigating multiple systems.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F1CBD9-DDB2-4316-B3A3-98534B9CB7D0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762000" cy="51435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E11AB9-E8AB-47D0-ABA7-6EA92F415780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E1695B-AA2C-4576-B404-D254A7D7E9EF}"/>
              </a:ext>
            </a:extLst>
          </p:cNvPr>
          <p:cNvSpPr>
            <a:spLocks noGrp="1"/>
          </p:cNvSpPr>
          <p:nvPr/>
        </p:nvSpPr>
        <p:spPr>
          <a:xfrm>
            <a:off x="1752600" y="38004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Fees &amp; notices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4EC6BA-05D5-47FC-98F9-4535B4C6C031}"/>
              </a:ext>
            </a:extLst>
          </p:cNvPr>
          <p:cNvSpPr>
            <a:spLocks noGrp="1"/>
          </p:cNvSpPr>
          <p:nvPr/>
        </p:nvSpPr>
        <p:spPr>
          <a:xfrm>
            <a:off x="5334000" y="3810000"/>
            <a:ext cx="519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updates available without navigating multiple systems.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E1C2D4-55AE-4A6F-BBDE-5B679F5BFFAA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762000" cy="51435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89FF4E-3D49-4865-AAF3-F10A13C7890D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651676-BF72-48A8-A84E-980AB6E82393}"/>
              </a:ext>
            </a:extLst>
          </p:cNvPr>
          <p:cNvSpPr>
            <a:spLocks noGrp="1"/>
          </p:cNvSpPr>
          <p:nvPr/>
        </p:nvSpPr>
        <p:spPr>
          <a:xfrm>
            <a:off x="1752600" y="45624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Transport updates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EFD147-CE9A-4CC9-9457-44F3F4366E6D}"/>
              </a:ext>
            </a:extLst>
          </p:cNvPr>
          <p:cNvSpPr>
            <a:spLocks noGrp="1"/>
          </p:cNvSpPr>
          <p:nvPr/>
        </p:nvSpPr>
        <p:spPr>
          <a:xfrm>
            <a:off x="5334000" y="4572000"/>
            <a:ext cx="519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updates available without navigating multiple systems.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4C3FDD-0FC6-4F0C-8856-D737A15C3898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result: a clearer, more confident day-to-day student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32862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69AEA7A-8297-4198-A226-8AD4D18F29B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PARENT ENGAGEMENT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0E7151-2C3D-431C-9306-BA1649C922D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Visibility strengthens the home–institution partnership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697042-5557-4972-A4E0-1533EC76355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9C24A-4828-40BD-899D-7BCFCDCF2330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673B4-C2FE-4A90-BBF3-48E093940EA9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D6832E-E409-461B-9243-2A2AF78D281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648200" cy="3143250"/>
          </a:xfrm>
          <a:prstGeom prst="roundRect">
            <a:avLst>
              <a:gd name="adj" fmla="val 3636"/>
            </a:avLst>
          </a:prstGeom>
          <a:solidFill>
            <a:srgbClr val="E0F7F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B574FE-330D-4E14-B8C0-B14F6CD3B50B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Parents stay informed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F97360-4BE7-4599-A606-74869EFF6D39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A3513-1397-4C85-939A-8DD051051CF0}"/>
              </a:ext>
            </a:extLst>
          </p:cNvPr>
          <p:cNvSpPr>
            <a:spLocks noGrp="1"/>
          </p:cNvSpPr>
          <p:nvPr/>
        </p:nvSpPr>
        <p:spPr>
          <a:xfrm>
            <a:off x="1219200" y="2733675"/>
            <a:ext cx="3581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Monitor key student updates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60B540-27CA-4170-879C-BC8DCB297669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2274F4-23FB-40E7-A983-2091339EB818}"/>
              </a:ext>
            </a:extLst>
          </p:cNvPr>
          <p:cNvSpPr>
            <a:spLocks noGrp="1"/>
          </p:cNvSpPr>
          <p:nvPr/>
        </p:nvSpPr>
        <p:spPr>
          <a:xfrm>
            <a:off x="1219200" y="3228975"/>
            <a:ext cx="3581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Access relevant fee and attendance information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EEED8-316D-491D-B382-72C7EE26BD66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79B8A-0812-46F9-84D8-89EECAF356EE}"/>
              </a:ext>
            </a:extLst>
          </p:cNvPr>
          <p:cNvSpPr>
            <a:spLocks noGrp="1"/>
          </p:cNvSpPr>
          <p:nvPr/>
        </p:nvSpPr>
        <p:spPr>
          <a:xfrm>
            <a:off x="1219200" y="3724275"/>
            <a:ext cx="3581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Stay connected to institutional communication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7124E-6D39-44FC-9E5E-3378FC38E6AB}"/>
              </a:ext>
            </a:extLst>
          </p:cNvPr>
          <p:cNvSpPr>
            <a:spLocks noGrp="1"/>
          </p:cNvSpPr>
          <p:nvPr/>
        </p:nvSpPr>
        <p:spPr>
          <a:xfrm>
            <a:off x="5791200" y="1762125"/>
            <a:ext cx="57150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D8B74-8CD4-4D59-806E-F990AD36AA50}"/>
              </a:ext>
            </a:extLst>
          </p:cNvPr>
          <p:cNvSpPr>
            <a:spLocks noGrp="1"/>
          </p:cNvSpPr>
          <p:nvPr/>
        </p:nvSpPr>
        <p:spPr>
          <a:xfrm>
            <a:off x="6115050" y="20955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 more transparent relationship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A99EC3-7493-4135-B90B-BCFC28032ECF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4629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families can see the right information at the right time, questions become conversations—and trust grows.</a:t>
            </a:r>
          </a:p>
        </p:txBody>
      </p:sp>
    </p:spTree>
    <p:extLst>
      <p:ext uri="{BB962C8B-B14F-4D97-AF65-F5344CB8AC3E}">
        <p14:creationId xmlns:p14="http://schemas.microsoft.com/office/powerpoint/2010/main" val="131696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7A013C5-9EF3-4530-AF19-338DFDD5DDA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SMART ATTENDANCE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D4860-53C0-429B-8845-C47A171B68E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QR-based attendance makes presence visible in real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2B38B-41D6-4938-9D1B-8F84C4847B5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9EECF-4470-439A-8ED8-27D0E5D14334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EA3DB-2758-4442-83A3-8F2FFD73BB00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140E08-A7A8-42B2-92C6-8E3BBB9647D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0005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3B5BF-686D-4D23-BBDC-C586E57EB3B7}"/>
              </a:ext>
            </a:extLst>
          </p:cNvPr>
          <p:cNvSpPr>
            <a:spLocks noGrp="1"/>
          </p:cNvSpPr>
          <p:nvPr/>
        </p:nvSpPr>
        <p:spPr>
          <a:xfrm>
            <a:off x="1009650" y="20574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7FF53D-3086-4937-A15A-FF3026B79321}"/>
              </a:ext>
            </a:extLst>
          </p:cNvPr>
          <p:cNvSpPr>
            <a:spLocks noGrp="1"/>
          </p:cNvSpPr>
          <p:nvPr/>
        </p:nvSpPr>
        <p:spPr>
          <a:xfrm>
            <a:off x="1009650" y="2686050"/>
            <a:ext cx="2247900" cy="17145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3EACCC-4E5B-4605-9876-69CE03448D31}"/>
              </a:ext>
            </a:extLst>
          </p:cNvPr>
          <p:cNvSpPr>
            <a:spLocks noGrp="1"/>
          </p:cNvSpPr>
          <p:nvPr/>
        </p:nvSpPr>
        <p:spPr>
          <a:xfrm>
            <a:off x="1257300" y="292417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6584D8-B0E1-4AE5-BFB3-622762169753}"/>
              </a:ext>
            </a:extLst>
          </p:cNvPr>
          <p:cNvSpPr>
            <a:spLocks noGrp="1"/>
          </p:cNvSpPr>
          <p:nvPr/>
        </p:nvSpPr>
        <p:spPr>
          <a:xfrm>
            <a:off x="1257300" y="355282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0244C1-9EC3-43E5-8E3D-67EDFB52DB43}"/>
              </a:ext>
            </a:extLst>
          </p:cNvPr>
          <p:cNvSpPr>
            <a:spLocks noGrp="1"/>
          </p:cNvSpPr>
          <p:nvPr/>
        </p:nvSpPr>
        <p:spPr>
          <a:xfrm>
            <a:off x="1533525" y="313372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6C0FF3-AFD2-4631-B2E4-A53FFB55FD2D}"/>
              </a:ext>
            </a:extLst>
          </p:cNvPr>
          <p:cNvSpPr>
            <a:spLocks noGrp="1"/>
          </p:cNvSpPr>
          <p:nvPr/>
        </p:nvSpPr>
        <p:spPr>
          <a:xfrm>
            <a:off x="1533525" y="376237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37987A-FD01-4C14-BEFA-9FC3689056E2}"/>
              </a:ext>
            </a:extLst>
          </p:cNvPr>
          <p:cNvSpPr>
            <a:spLocks noGrp="1"/>
          </p:cNvSpPr>
          <p:nvPr/>
        </p:nvSpPr>
        <p:spPr>
          <a:xfrm>
            <a:off x="2085975" y="292417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196D87-1247-4AF5-82EE-C5D0590AF10D}"/>
              </a:ext>
            </a:extLst>
          </p:cNvPr>
          <p:cNvSpPr>
            <a:spLocks noGrp="1"/>
          </p:cNvSpPr>
          <p:nvPr/>
        </p:nvSpPr>
        <p:spPr>
          <a:xfrm>
            <a:off x="2085975" y="355282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F6A8A1-791C-49F2-B27B-94EF867EB8DD}"/>
              </a:ext>
            </a:extLst>
          </p:cNvPr>
          <p:cNvSpPr>
            <a:spLocks noGrp="1"/>
          </p:cNvSpPr>
          <p:nvPr/>
        </p:nvSpPr>
        <p:spPr>
          <a:xfrm>
            <a:off x="2362200" y="313372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84819B-4CC7-4672-B9F4-87650D90FC01}"/>
              </a:ext>
            </a:extLst>
          </p:cNvPr>
          <p:cNvSpPr>
            <a:spLocks noGrp="1"/>
          </p:cNvSpPr>
          <p:nvPr/>
        </p:nvSpPr>
        <p:spPr>
          <a:xfrm>
            <a:off x="2362200" y="3762375"/>
            <a:ext cx="1714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2FA11D-DABB-491E-81D6-A26C438E0C56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2762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Student verifies presence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8A2CC1-3764-4DC7-AEE6-0E0BDC49085B}"/>
              </a:ext>
            </a:extLst>
          </p:cNvPr>
          <p:cNvSpPr>
            <a:spLocks noGrp="1"/>
          </p:cNvSpPr>
          <p:nvPr/>
        </p:nvSpPr>
        <p:spPr>
          <a:xfrm>
            <a:off x="5372100" y="1657350"/>
            <a:ext cx="6134100" cy="3695700"/>
          </a:xfrm>
          <a:prstGeom prst="roundRect">
            <a:avLst>
              <a:gd name="adj" fmla="val 3093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D32FF0-23A7-4D6F-BE0D-B4D525BFC3E3}"/>
              </a:ext>
            </a:extLst>
          </p:cNvPr>
          <p:cNvSpPr>
            <a:spLocks noGrp="1"/>
          </p:cNvSpPr>
          <p:nvPr/>
        </p:nvSpPr>
        <p:spPr>
          <a:xfrm>
            <a:off x="5753100" y="20574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Instantly connected to the campus view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8DB54A-96FD-4C4D-9C02-F58A06BC4AA1}"/>
              </a:ext>
            </a:extLst>
          </p:cNvPr>
          <p:cNvSpPr>
            <a:spLocks noGrp="1"/>
          </p:cNvSpPr>
          <p:nvPr/>
        </p:nvSpPr>
        <p:spPr>
          <a:xfrm>
            <a:off x="5753100" y="2781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66B401-2BBB-4CD7-AB41-A86AA842B220}"/>
              </a:ext>
            </a:extLst>
          </p:cNvPr>
          <p:cNvSpPr>
            <a:spLocks noGrp="1"/>
          </p:cNvSpPr>
          <p:nvPr/>
        </p:nvSpPr>
        <p:spPr>
          <a:xfrm>
            <a:off x="5962650" y="2752725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Rapid capture for day-to-day attendance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84A2B1-D9B6-4B25-B990-A0D8CAF10312}"/>
              </a:ext>
            </a:extLst>
          </p:cNvPr>
          <p:cNvSpPr>
            <a:spLocks noGrp="1"/>
          </p:cNvSpPr>
          <p:nvPr/>
        </p:nvSpPr>
        <p:spPr>
          <a:xfrm>
            <a:off x="5753100" y="3276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28182C-C447-41B6-9797-635B703F319C}"/>
              </a:ext>
            </a:extLst>
          </p:cNvPr>
          <p:cNvSpPr>
            <a:spLocks noGrp="1"/>
          </p:cNvSpPr>
          <p:nvPr/>
        </p:nvSpPr>
        <p:spPr>
          <a:xfrm>
            <a:off x="5962650" y="3248025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Clear status for students, staff and leadership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519CB8-BE76-4694-AB2A-F2D9FC0F11DA}"/>
              </a:ext>
            </a:extLst>
          </p:cNvPr>
          <p:cNvSpPr>
            <a:spLocks noGrp="1"/>
          </p:cNvSpPr>
          <p:nvPr/>
        </p:nvSpPr>
        <p:spPr>
          <a:xfrm>
            <a:off x="5753100" y="3771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12F0A5-6D51-4467-AA2F-2FBBE51F4400}"/>
              </a:ext>
            </a:extLst>
          </p:cNvPr>
          <p:cNvSpPr>
            <a:spLocks noGrp="1"/>
          </p:cNvSpPr>
          <p:nvPr/>
        </p:nvSpPr>
        <p:spPr>
          <a:xfrm>
            <a:off x="5962650" y="3743325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ready for follow-up and analysis</a:t>
            </a:r>
          </a:p>
        </p:txBody>
      </p:sp>
    </p:spTree>
    <p:extLst>
      <p:ext uri="{BB962C8B-B14F-4D97-AF65-F5344CB8AC3E}">
        <p14:creationId xmlns:p14="http://schemas.microsoft.com/office/powerpoint/2010/main" val="55150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DA90997-F548-4381-ABD8-27363DE2157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 ASSISTANT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17B1FE-9A2D-452E-A72C-017E0713CC6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Campus information becomes easier to access and act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0C969-2560-448F-B171-73FF75DFB40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3217C-48B3-486E-A0F4-99BA7D49CB08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308FE4-CB11-494A-9C06-9D8C9C1160C2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8AF14-0CC4-47E3-96F5-CF4715421D8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AI Assistant brings a conversational layer to the ERP experience.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106451-C441-4F74-8C99-2316BE0F79C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57225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57CEA5-3366-4F9C-AE9A-D803F2AC4C8D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Ask naturally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65455-CBE5-4F4F-9C12-024402197E1D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“Show me the attendance trend for this semester.”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390FAB-049F-4C0C-A63F-C196D3D9899A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4953000" cy="647700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E649B8-BD90-446C-BF3A-1009C35F35E3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Insight: Attendance patterns are ready for review.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F95D14-FA77-41A2-9B04-94652B74C1D0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733800" cy="2762250"/>
          </a:xfrm>
          <a:prstGeom prst="roundRect">
            <a:avLst>
              <a:gd name="adj" fmla="val 4138"/>
            </a:avLst>
          </a:prstGeom>
          <a:solidFill>
            <a:srgbClr val="1E1B4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5F1A9-A2F9-4CD5-AD7C-1C51F39D1356}"/>
              </a:ext>
            </a:extLst>
          </p:cNvPr>
          <p:cNvSpPr>
            <a:spLocks noGrp="1"/>
          </p:cNvSpPr>
          <p:nvPr/>
        </p:nvSpPr>
        <p:spPr>
          <a:xfrm>
            <a:off x="8096250" y="2428875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B4FC4-993D-4ECA-9EBE-625E6A7FA26A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2381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searching.</a:t>
            </a:r>
          </a:p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clarity.</a:t>
            </a:r>
          </a:p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action.</a:t>
            </a:r>
          </a:p>
        </p:txBody>
      </p:sp>
    </p:spTree>
    <p:extLst>
      <p:ext uri="{BB962C8B-B14F-4D97-AF65-F5344CB8AC3E}">
        <p14:creationId xmlns:p14="http://schemas.microsoft.com/office/powerpoint/2010/main" val="161270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C46D4A4-200C-42BC-941C-AA0C1928C4E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E3D8B-C42E-48A9-8D9C-07D48EC19B9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data supports timely institutional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B06BA7-94B0-42B1-9E36-93EECF346F2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3DF98E-4140-4EF5-81E7-34F35EC7225C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BCDFA8-D962-4E01-BD61-8FC55ABD8439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CDFCFA-BB5A-46CB-92EA-29C2D7B4A39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8580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BCE7F-E7F8-4249-81B1-2B5625BF8201}"/>
              </a:ext>
            </a:extLst>
          </p:cNvPr>
          <p:cNvSpPr>
            <a:spLocks noGrp="1"/>
          </p:cNvSpPr>
          <p:nvPr/>
        </p:nvSpPr>
        <p:spPr>
          <a:xfrm>
            <a:off x="1009650" y="20574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signals in one 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48F7AD-3A53-41D9-B741-8FE517FD3F8A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457200" cy="381000"/>
          </a:xfrm>
          <a:prstGeom prst="roundRect">
            <a:avLst>
              <a:gd name="adj" fmla="val 30000"/>
            </a:avLst>
          </a:prstGeom>
          <a:solidFill>
            <a:srgbClr val="C7D2FE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1CD140-808E-46DA-9E65-424FAF2A4729}"/>
              </a:ext>
            </a:extLst>
          </p:cNvPr>
          <p:cNvSpPr>
            <a:spLocks noGrp="1"/>
          </p:cNvSpPr>
          <p:nvPr/>
        </p:nvSpPr>
        <p:spPr>
          <a:xfrm>
            <a:off x="2133600" y="3048000"/>
            <a:ext cx="457200" cy="1238250"/>
          </a:xfrm>
          <a:prstGeom prst="roundRect">
            <a:avLst>
              <a:gd name="adj" fmla="val 25000"/>
            </a:avLst>
          </a:prstGeom>
          <a:solidFill>
            <a:srgbClr val="C7D2FE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F377B3-879B-42EB-90AD-AE0279BC6755}"/>
              </a:ext>
            </a:extLst>
          </p:cNvPr>
          <p:cNvSpPr>
            <a:spLocks noGrp="1"/>
          </p:cNvSpPr>
          <p:nvPr/>
        </p:nvSpPr>
        <p:spPr>
          <a:xfrm>
            <a:off x="3009900" y="3390900"/>
            <a:ext cx="457200" cy="895350"/>
          </a:xfrm>
          <a:prstGeom prst="roundRect">
            <a:avLst>
              <a:gd name="adj" fmla="val 25000"/>
            </a:avLst>
          </a:prstGeom>
          <a:solidFill>
            <a:srgbClr val="C7D2FE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5E9E9F-3C8D-4D8F-B9B0-594489B737D2}"/>
              </a:ext>
            </a:extLst>
          </p:cNvPr>
          <p:cNvSpPr>
            <a:spLocks noGrp="1"/>
          </p:cNvSpPr>
          <p:nvPr/>
        </p:nvSpPr>
        <p:spPr>
          <a:xfrm>
            <a:off x="3886200" y="2333625"/>
            <a:ext cx="457200" cy="1952625"/>
          </a:xfrm>
          <a:prstGeom prst="roundRect">
            <a:avLst>
              <a:gd name="adj" fmla="val 25000"/>
            </a:avLst>
          </a:prstGeom>
          <a:solidFill>
            <a:srgbClr val="C7D2FE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81981C-D064-4FBC-A888-AF88A2B5602D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457200" cy="1524000"/>
          </a:xfrm>
          <a:prstGeom prst="roundRect">
            <a:avLst>
              <a:gd name="adj" fmla="val 25000"/>
            </a:avLst>
          </a:prstGeom>
          <a:solidFill>
            <a:srgbClr val="C7D2FE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B62E1A-5009-4B17-BF6C-4BE42D31AC40}"/>
              </a:ext>
            </a:extLst>
          </p:cNvPr>
          <p:cNvSpPr>
            <a:spLocks noGrp="1"/>
          </p:cNvSpPr>
          <p:nvPr/>
        </p:nvSpPr>
        <p:spPr>
          <a:xfrm>
            <a:off x="5638800" y="1714500"/>
            <a:ext cx="457200" cy="257175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E8EBD6-D12B-410B-9F5B-224392B5EC09}"/>
              </a:ext>
            </a:extLst>
          </p:cNvPr>
          <p:cNvSpPr>
            <a:spLocks noGrp="1"/>
          </p:cNvSpPr>
          <p:nvPr/>
        </p:nvSpPr>
        <p:spPr>
          <a:xfrm>
            <a:off x="1009650" y="45720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Illustrative dashboard visualization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9375CC-431A-452A-908F-7C2DA7EAC758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429000" cy="3238500"/>
          </a:xfrm>
          <a:prstGeom prst="roundRect">
            <a:avLst>
              <a:gd name="adj" fmla="val 3529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C31D3-14C3-4B96-B4D4-A49FA246DE5F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From data to direction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A91540-C218-4862-AFC7-D1CBBB815047}"/>
              </a:ext>
            </a:extLst>
          </p:cNvPr>
          <p:cNvSpPr>
            <a:spLocks noGrp="1"/>
          </p:cNvSpPr>
          <p:nvPr/>
        </p:nvSpPr>
        <p:spPr>
          <a:xfrm>
            <a:off x="8401050" y="2762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EB75A-A623-4AFA-861F-B50ABE3D16B3}"/>
              </a:ext>
            </a:extLst>
          </p:cNvPr>
          <p:cNvSpPr>
            <a:spLocks noGrp="1"/>
          </p:cNvSpPr>
          <p:nvPr/>
        </p:nvSpPr>
        <p:spPr>
          <a:xfrm>
            <a:off x="8610600" y="2733675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Monitor patterns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C3BBBD-F8B9-4BF2-8D94-4A3BBA22EDE5}"/>
              </a:ext>
            </a:extLst>
          </p:cNvPr>
          <p:cNvSpPr>
            <a:spLocks noGrp="1"/>
          </p:cNvSpPr>
          <p:nvPr/>
        </p:nvSpPr>
        <p:spPr>
          <a:xfrm>
            <a:off x="840105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7E0075-13D9-4470-8A5E-380C9EFE031A}"/>
              </a:ext>
            </a:extLst>
          </p:cNvPr>
          <p:cNvSpPr>
            <a:spLocks noGrp="1"/>
          </p:cNvSpPr>
          <p:nvPr/>
        </p:nvSpPr>
        <p:spPr>
          <a:xfrm>
            <a:off x="8610600" y="3228975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Spot exceptions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DD8964-D9CE-49F5-8A25-760F24DFED16}"/>
              </a:ext>
            </a:extLst>
          </p:cNvPr>
          <p:cNvSpPr>
            <a:spLocks noGrp="1"/>
          </p:cNvSpPr>
          <p:nvPr/>
        </p:nvSpPr>
        <p:spPr>
          <a:xfrm>
            <a:off x="8401050" y="3752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DF3A6-E2F7-46DD-A1AF-E6F4F66809CF}"/>
              </a:ext>
            </a:extLst>
          </p:cNvPr>
          <p:cNvSpPr>
            <a:spLocks noGrp="1"/>
          </p:cNvSpPr>
          <p:nvPr/>
        </p:nvSpPr>
        <p:spPr>
          <a:xfrm>
            <a:off x="8610600" y="3724275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Support better decisions</a:t>
            </a:r>
          </a:p>
        </p:txBody>
      </p:sp>
    </p:spTree>
    <p:extLst>
      <p:ext uri="{BB962C8B-B14F-4D97-AF65-F5344CB8AC3E}">
        <p14:creationId xmlns:p14="http://schemas.microsoft.com/office/powerpoint/2010/main" val="158670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D43B4D-8A92-4C10-BD16-DB64489F3CB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F6738-EDB0-446F-988D-8933511E437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bus tracking improves campus mobility awareness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2345B9-32FC-43B9-AC75-DE4BC83625C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A066D8-55DF-4227-B3DB-F6B9F6BF0E8A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BCC34A-9060-4FC1-BF03-7422795D71CF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082CBC-5A98-41ED-A432-05CF941A539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6096000" cy="3581400"/>
          </a:xfrm>
          <a:prstGeom prst="roundRect">
            <a:avLst>
              <a:gd name="adj" fmla="val 3191"/>
            </a:avLst>
          </a:prstGeom>
          <a:solidFill>
            <a:srgbClr val="E0F7F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4F105-EDCD-48EC-9116-66BFEBBE755B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route 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CBEC1D-E6B8-4F4A-88F0-A18C17E6F600}"/>
              </a:ext>
            </a:extLst>
          </p:cNvPr>
          <p:cNvSpPr>
            <a:spLocks noGrp="1"/>
          </p:cNvSpPr>
          <p:nvPr/>
        </p:nvSpPr>
        <p:spPr>
          <a:xfrm>
            <a:off x="1162050" y="2638425"/>
            <a:ext cx="4552950" cy="114300"/>
          </a:xfrm>
          <a:prstGeom prst="roundRect">
            <a:avLst>
              <a:gd name="adj" fmla="val 50000"/>
            </a:avLst>
          </a:prstGeom>
          <a:solidFill>
            <a:srgbClr val="67E8F9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9F262D-9FAC-419A-95E4-CF3E6BB2B82F}"/>
              </a:ext>
            </a:extLst>
          </p:cNvPr>
          <p:cNvSpPr>
            <a:spLocks noGrp="1"/>
          </p:cNvSpPr>
          <p:nvPr/>
        </p:nvSpPr>
        <p:spPr>
          <a:xfrm>
            <a:off x="4762500" y="2286000"/>
            <a:ext cx="114300" cy="1600200"/>
          </a:xfrm>
          <a:prstGeom prst="roundRect">
            <a:avLst>
              <a:gd name="adj" fmla="val 50000"/>
            </a:avLst>
          </a:prstGeom>
          <a:solidFill>
            <a:srgbClr val="67E8F9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16E615-22AB-4E52-AB65-41F6DFFF0E31}"/>
              </a:ext>
            </a:extLst>
          </p:cNvPr>
          <p:cNvSpPr>
            <a:spLocks noGrp="1"/>
          </p:cNvSpPr>
          <p:nvPr/>
        </p:nvSpPr>
        <p:spPr>
          <a:xfrm>
            <a:off x="2076450" y="3752850"/>
            <a:ext cx="2705100" cy="114300"/>
          </a:xfrm>
          <a:prstGeom prst="roundRect">
            <a:avLst>
              <a:gd name="adj" fmla="val 50000"/>
            </a:avLst>
          </a:prstGeom>
          <a:solidFill>
            <a:srgbClr val="67E8F9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E3DD92-46FE-4763-A635-DEA34A5C4F3D}"/>
              </a:ext>
            </a:extLst>
          </p:cNvPr>
          <p:cNvSpPr>
            <a:spLocks noGrp="1"/>
          </p:cNvSpPr>
          <p:nvPr/>
        </p:nvSpPr>
        <p:spPr>
          <a:xfrm>
            <a:off x="1952625" y="2524125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C67BD4-DDF9-4A33-B081-4A3D95C3DA7E}"/>
              </a:ext>
            </a:extLst>
          </p:cNvPr>
          <p:cNvSpPr>
            <a:spLocks noGrp="1"/>
          </p:cNvSpPr>
          <p:nvPr/>
        </p:nvSpPr>
        <p:spPr>
          <a:xfrm>
            <a:off x="4629150" y="375285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C2188C-9B84-4695-8158-F30336CF159D}"/>
              </a:ext>
            </a:extLst>
          </p:cNvPr>
          <p:cNvSpPr>
            <a:spLocks noGrp="1"/>
          </p:cNvSpPr>
          <p:nvPr/>
        </p:nvSpPr>
        <p:spPr>
          <a:xfrm>
            <a:off x="1962150" y="24860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727AD-20B6-46BF-87CA-F8FCF2F62565}"/>
              </a:ext>
            </a:extLst>
          </p:cNvPr>
          <p:cNvSpPr>
            <a:spLocks noGrp="1"/>
          </p:cNvSpPr>
          <p:nvPr/>
        </p:nvSpPr>
        <p:spPr>
          <a:xfrm>
            <a:off x="4638675" y="37147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552F45-1F73-41A4-BBE3-92D525A0180A}"/>
              </a:ext>
            </a:extLst>
          </p:cNvPr>
          <p:cNvSpPr>
            <a:spLocks noGrp="1"/>
          </p:cNvSpPr>
          <p:nvPr/>
        </p:nvSpPr>
        <p:spPr>
          <a:xfrm>
            <a:off x="7315200" y="1666875"/>
            <a:ext cx="41910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FEA6C6-7D92-4F0D-9EF1-B530B045639D}"/>
              </a:ext>
            </a:extLst>
          </p:cNvPr>
          <p:cNvSpPr>
            <a:spLocks noGrp="1"/>
          </p:cNvSpPr>
          <p:nvPr/>
        </p:nvSpPr>
        <p:spPr>
          <a:xfrm>
            <a:off x="7658100" y="20002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Transport updates where they matter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C23065-2EEF-41D7-87BC-D39222869FAA}"/>
              </a:ext>
            </a:extLst>
          </p:cNvPr>
          <p:cNvSpPr>
            <a:spLocks noGrp="1"/>
          </p:cNvSpPr>
          <p:nvPr/>
        </p:nvSpPr>
        <p:spPr>
          <a:xfrm>
            <a:off x="7658100" y="2705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478778-D2A1-449C-90F6-1DE90E1EEE9A}"/>
              </a:ext>
            </a:extLst>
          </p:cNvPr>
          <p:cNvSpPr>
            <a:spLocks noGrp="1"/>
          </p:cNvSpPr>
          <p:nvPr/>
        </p:nvSpPr>
        <p:spPr>
          <a:xfrm>
            <a:off x="7867650" y="26765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Improve visibility for students and parents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BA160C-8433-415B-B02F-7ED347C9AEBB}"/>
              </a:ext>
            </a:extLst>
          </p:cNvPr>
          <p:cNvSpPr>
            <a:spLocks noGrp="1"/>
          </p:cNvSpPr>
          <p:nvPr/>
        </p:nvSpPr>
        <p:spPr>
          <a:xfrm>
            <a:off x="7658100" y="3200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275184-E310-4AA8-81E2-58DFADA6520C}"/>
              </a:ext>
            </a:extLst>
          </p:cNvPr>
          <p:cNvSpPr>
            <a:spLocks noGrp="1"/>
          </p:cNvSpPr>
          <p:nvPr/>
        </p:nvSpPr>
        <p:spPr>
          <a:xfrm>
            <a:off x="7867650" y="31718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Support better coordination for transport teams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9F9798-8E99-4895-A00C-C064CEFC727C}"/>
              </a:ext>
            </a:extLst>
          </p:cNvPr>
          <p:cNvSpPr>
            <a:spLocks noGrp="1"/>
          </p:cNvSpPr>
          <p:nvPr/>
        </p:nvSpPr>
        <p:spPr>
          <a:xfrm>
            <a:off x="7658100" y="3695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D9FC4A-2E47-4512-93A0-4B8E3D96FAF4}"/>
              </a:ext>
            </a:extLst>
          </p:cNvPr>
          <p:cNvSpPr>
            <a:spLocks noGrp="1"/>
          </p:cNvSpPr>
          <p:nvPr/>
        </p:nvSpPr>
        <p:spPr>
          <a:xfrm>
            <a:off x="7867650" y="36671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Bring real-time context into the ERP</a:t>
            </a:r>
          </a:p>
        </p:txBody>
      </p:sp>
    </p:spTree>
    <p:extLst>
      <p:ext uri="{BB962C8B-B14F-4D97-AF65-F5344CB8AC3E}">
        <p14:creationId xmlns:p14="http://schemas.microsoft.com/office/powerpoint/2010/main" val="1450527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BDBDFD-1D52-4C05-B6E8-EC54E2C4BC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ACADEMIC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9BBBE-48BE-43AD-9635-8DB4840AF5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processes are connected, not siloed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BFF13C-70F4-4844-AF6E-6EAE44F98A2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57508-50C9-4E1D-A152-AA4317A440EB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B1A58-26B9-410E-A9BF-BFD43B3C888F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A4AE8-99A6-4892-A5EE-581004E7153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4003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A4873-D6C4-4F28-BEF7-962E3A9B74A2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ED06A-263C-47A4-8D7F-F94D7EB3BD96}"/>
              </a:ext>
            </a:extLst>
          </p:cNvPr>
          <p:cNvSpPr>
            <a:spLocks noGrp="1"/>
          </p:cNvSpPr>
          <p:nvPr/>
        </p:nvSpPr>
        <p:spPr>
          <a:xfrm>
            <a:off x="914400" y="2924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Timetables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1F0281-0CBD-4AAD-B275-34F61F996372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Coordinate learning activity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4F8E92-35C4-4A05-A4EC-35824B8CA47C}"/>
              </a:ext>
            </a:extLst>
          </p:cNvPr>
          <p:cNvSpPr>
            <a:spLocks noGrp="1"/>
          </p:cNvSpPr>
          <p:nvPr/>
        </p:nvSpPr>
        <p:spPr>
          <a:xfrm>
            <a:off x="3400425" y="2152650"/>
            <a:ext cx="24003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D74BF-7F89-4DD5-A798-9F5A0D603DB7}"/>
              </a:ext>
            </a:extLst>
          </p:cNvPr>
          <p:cNvSpPr>
            <a:spLocks noGrp="1"/>
          </p:cNvSpPr>
          <p:nvPr/>
        </p:nvSpPr>
        <p:spPr>
          <a:xfrm>
            <a:off x="3629025" y="24003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58F4B9-72C8-48C3-B1F7-A47DFAA37CEB}"/>
              </a:ext>
            </a:extLst>
          </p:cNvPr>
          <p:cNvSpPr>
            <a:spLocks noGrp="1"/>
          </p:cNvSpPr>
          <p:nvPr/>
        </p:nvSpPr>
        <p:spPr>
          <a:xfrm>
            <a:off x="3629025" y="2924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760EF-3117-4931-B787-98DCBADDBDA5}"/>
              </a:ext>
            </a:extLst>
          </p:cNvPr>
          <p:cNvSpPr>
            <a:spLocks noGrp="1"/>
          </p:cNvSpPr>
          <p:nvPr/>
        </p:nvSpPr>
        <p:spPr>
          <a:xfrm>
            <a:off x="3629025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Make participation measurable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25C330-CD68-4DD1-A852-C8A3F073F0A5}"/>
              </a:ext>
            </a:extLst>
          </p:cNvPr>
          <p:cNvSpPr>
            <a:spLocks noGrp="1"/>
          </p:cNvSpPr>
          <p:nvPr/>
        </p:nvSpPr>
        <p:spPr>
          <a:xfrm>
            <a:off x="6115050" y="2152650"/>
            <a:ext cx="24003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214F36-8C61-484F-84EB-481A9259B2AA}"/>
              </a:ext>
            </a:extLst>
          </p:cNvPr>
          <p:cNvSpPr>
            <a:spLocks noGrp="1"/>
          </p:cNvSpPr>
          <p:nvPr/>
        </p:nvSpPr>
        <p:spPr>
          <a:xfrm>
            <a:off x="6343650" y="24003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DC197-7668-4F15-A2B8-BCE40233D9B7}"/>
              </a:ext>
            </a:extLst>
          </p:cNvPr>
          <p:cNvSpPr>
            <a:spLocks noGrp="1"/>
          </p:cNvSpPr>
          <p:nvPr/>
        </p:nvSpPr>
        <p:spPr>
          <a:xfrm>
            <a:off x="6343650" y="2924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 records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8FAE68-9466-4538-B59C-7B4892F33CC1}"/>
              </a:ext>
            </a:extLst>
          </p:cNvPr>
          <p:cNvSpPr>
            <a:spLocks noGrp="1"/>
          </p:cNvSpPr>
          <p:nvPr/>
        </p:nvSpPr>
        <p:spPr>
          <a:xfrm>
            <a:off x="634365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the academic journey visible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53DB25-C83E-4CD7-B51F-4E6AFCE6A7AF}"/>
              </a:ext>
            </a:extLst>
          </p:cNvPr>
          <p:cNvSpPr>
            <a:spLocks noGrp="1"/>
          </p:cNvSpPr>
          <p:nvPr/>
        </p:nvSpPr>
        <p:spPr>
          <a:xfrm>
            <a:off x="8829675" y="2152650"/>
            <a:ext cx="24003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608A16-341A-4BCF-AB88-DB147B9AEF00}"/>
              </a:ext>
            </a:extLst>
          </p:cNvPr>
          <p:cNvSpPr>
            <a:spLocks noGrp="1"/>
          </p:cNvSpPr>
          <p:nvPr/>
        </p:nvSpPr>
        <p:spPr>
          <a:xfrm>
            <a:off x="9058275" y="24003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EEAC78-83A4-4689-A2B7-68DEDA6B4E0C}"/>
              </a:ext>
            </a:extLst>
          </p:cNvPr>
          <p:cNvSpPr>
            <a:spLocks noGrp="1"/>
          </p:cNvSpPr>
          <p:nvPr/>
        </p:nvSpPr>
        <p:spPr>
          <a:xfrm>
            <a:off x="9058275" y="2924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C5B34C-5353-4F71-B70D-CF3271754F06}"/>
              </a:ext>
            </a:extLst>
          </p:cNvPr>
          <p:cNvSpPr>
            <a:spLocks noGrp="1"/>
          </p:cNvSpPr>
          <p:nvPr/>
        </p:nvSpPr>
        <p:spPr>
          <a:xfrm>
            <a:off x="9058275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Deliver the right updates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DE5258-F139-448D-B4AF-5BD8DEA27177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19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consistent flow of information helps teams make better decisions at every handoff.</a:t>
            </a:r>
          </a:p>
        </p:txBody>
      </p:sp>
    </p:spTree>
    <p:extLst>
      <p:ext uri="{BB962C8B-B14F-4D97-AF65-F5344CB8AC3E}">
        <p14:creationId xmlns:p14="http://schemas.microsoft.com/office/powerpoint/2010/main" val="781215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1A4BC97-1F5E-47BA-A8CE-685C5FE505D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A5C231-5CEA-4DED-8260-8EF8F9122B1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Fee and accounts workflows can be managed with confidence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D6B6B-98BD-45D6-9979-A1C159A1B20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28705-10BB-43BC-8798-288D8EE05F9B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B1707-D806-4784-B3DB-D9DE286ACA0F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EBC681-7F66-44EB-BFF8-78C45E60F96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1E1B4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1970C-BE4E-4B2B-9F5A-2A04950FE6C5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Fees &amp; Accounts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EC2787-A9B8-4BBA-9665-F7B581357645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3733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9D6F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6FE"/>
                </a:solidFill>
                <a:latin typeface="Aptos"/>
                <a:ea typeface="Aptos"/>
                <a:cs typeface="Aptos"/>
              </a:rPr>
              <a:t>A finance-ready workspace that gives the Accounts role focused visibility over institutional financial activity.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EC3070-4D63-4B5F-9F72-A1F3ACCC5D03}"/>
              </a:ext>
            </a:extLst>
          </p:cNvPr>
          <p:cNvSpPr>
            <a:spLocks noGrp="1"/>
          </p:cNvSpPr>
          <p:nvPr/>
        </p:nvSpPr>
        <p:spPr>
          <a:xfrm>
            <a:off x="1028700" y="4057650"/>
            <a:ext cx="2114550" cy="438150"/>
          </a:xfrm>
          <a:prstGeom prst="roundRect">
            <a:avLst>
              <a:gd name="adj" fmla="val 26087"/>
            </a:avLst>
          </a:prstGeom>
          <a:solidFill>
            <a:srgbClr val="A5B4FC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DDBFE4-787D-47AD-BF1A-25727BF7C398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E1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1B4B"/>
                </a:solidFill>
                <a:latin typeface="Aptos"/>
                <a:ea typeface="Aptos"/>
                <a:cs typeface="Aptos"/>
              </a:rPr>
              <a:t>Role-aware access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0A02D9-6723-42E0-923E-4AA3FA50C640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56007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1A90B0-E2F6-4EEF-8219-400774EA3543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6272EC-0C6D-4F42-BE7B-FE7EC975948C}"/>
              </a:ext>
            </a:extLst>
          </p:cNvPr>
          <p:cNvSpPr>
            <a:spLocks noGrp="1"/>
          </p:cNvSpPr>
          <p:nvPr/>
        </p:nvSpPr>
        <p:spPr>
          <a:xfrm>
            <a:off x="6496050" y="2371725"/>
            <a:ext cx="426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Relevant financial records in one experience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49FEC7-6209-496F-9A58-DFFBAD8BA43E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B65D3-4633-4FBE-8582-C91A1C1042E2}"/>
              </a:ext>
            </a:extLst>
          </p:cNvPr>
          <p:cNvSpPr>
            <a:spLocks noGrp="1"/>
          </p:cNvSpPr>
          <p:nvPr/>
        </p:nvSpPr>
        <p:spPr>
          <a:xfrm>
            <a:off x="6496050" y="2867025"/>
            <a:ext cx="426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Clearer status for fees and account-related tasks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24F073-CA45-40AB-B7F9-84D087B56CE4}"/>
              </a:ext>
            </a:extLst>
          </p:cNvPr>
          <p:cNvSpPr>
            <a:spLocks noGrp="1"/>
          </p:cNvSpPr>
          <p:nvPr/>
        </p:nvSpPr>
        <p:spPr>
          <a:xfrm>
            <a:off x="62865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807FEE-9102-4AAD-A873-2EC162074F40}"/>
              </a:ext>
            </a:extLst>
          </p:cNvPr>
          <p:cNvSpPr>
            <a:spLocks noGrp="1"/>
          </p:cNvSpPr>
          <p:nvPr/>
        </p:nvSpPr>
        <p:spPr>
          <a:xfrm>
            <a:off x="6496050" y="3362325"/>
            <a:ext cx="426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Better alignment between families and finance teams</a:t>
            </a:r>
          </a:p>
        </p:txBody>
      </p:sp>
    </p:spTree>
    <p:extLst>
      <p:ext uri="{BB962C8B-B14F-4D97-AF65-F5344CB8AC3E}">
        <p14:creationId xmlns:p14="http://schemas.microsoft.com/office/powerpoint/2010/main" val="118320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2382489-1616-4BEE-8B79-3F6B80BAACE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STUDENT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3466CB-5F87-4C2A-80F8-496EE91DA05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Placement and student services stay in the same ecosystem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08BA77-6E29-4335-A931-33E53F28AC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ED9C8-E906-4D1F-95F4-968628CC0C36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C4A4F-C6AD-4A89-9C59-889E6E592816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6CF2C-97A8-4537-B85E-5C387AC213F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Student success is strengthened when operational systems support the full journey—not only classroom activity.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3B17BF-E4CF-4A95-A14C-FDDADE9DB5F2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6AA1F-F48D-49E7-A555-3521135C5FDD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Academic 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4335AA-D45D-4FB6-85FF-80ECCA13E384}"/>
              </a:ext>
            </a:extLst>
          </p:cNvPr>
          <p:cNvSpPr>
            <a:spLocks noGrp="1"/>
          </p:cNvSpPr>
          <p:nvPr/>
        </p:nvSpPr>
        <p:spPr>
          <a:xfrm>
            <a:off x="3962400" y="26098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3E239-9961-4188-9054-E8938B650422}"/>
              </a:ext>
            </a:extLst>
          </p:cNvPr>
          <p:cNvSpPr>
            <a:spLocks noGrp="1"/>
          </p:cNvSpPr>
          <p:nvPr/>
        </p:nvSpPr>
        <p:spPr>
          <a:xfrm>
            <a:off x="4762500" y="26384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Learning, attendance &amp; records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3330E0-A14F-4450-B4E8-AA1705189142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94F61-9196-4B36-83F2-75DAA4B74345}"/>
              </a:ext>
            </a:extLst>
          </p:cNvPr>
          <p:cNvSpPr>
            <a:spLocks noGrp="1"/>
          </p:cNvSpPr>
          <p:nvPr/>
        </p:nvSpPr>
        <p:spPr>
          <a:xfrm>
            <a:off x="952500" y="35528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Career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802CF-BBE2-4346-8DAF-A491783F306B}"/>
              </a:ext>
            </a:extLst>
          </p:cNvPr>
          <p:cNvSpPr>
            <a:spLocks noGrp="1"/>
          </p:cNvSpPr>
          <p:nvPr/>
        </p:nvSpPr>
        <p:spPr>
          <a:xfrm>
            <a:off x="3962400" y="3524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D8BA5E-515E-431F-9778-A9B599FF9955}"/>
              </a:ext>
            </a:extLst>
          </p:cNvPr>
          <p:cNvSpPr>
            <a:spLocks noGrp="1"/>
          </p:cNvSpPr>
          <p:nvPr/>
        </p:nvSpPr>
        <p:spPr>
          <a:xfrm>
            <a:off x="4762500" y="35528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Placement-related visibility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3CE2CA-8A9D-4396-B4DF-D7AC857F8F8C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3E98CB-5252-43ED-B509-B1923B945D09}"/>
              </a:ext>
            </a:extLst>
          </p:cNvPr>
          <p:cNvSpPr>
            <a:spLocks noGrp="1"/>
          </p:cNvSpPr>
          <p:nvPr/>
        </p:nvSpPr>
        <p:spPr>
          <a:xfrm>
            <a:off x="952500" y="44672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Campus support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22B25-CD06-4998-B758-E725ED8E1AAD}"/>
              </a:ext>
            </a:extLst>
          </p:cNvPr>
          <p:cNvSpPr>
            <a:spLocks noGrp="1"/>
          </p:cNvSpPr>
          <p:nvPr/>
        </p:nvSpPr>
        <p:spPr>
          <a:xfrm>
            <a:off x="3962400" y="4438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CCDFB-670E-4D4A-BE8E-127F1ED599A5}"/>
              </a:ext>
            </a:extLst>
          </p:cNvPr>
          <p:cNvSpPr>
            <a:spLocks noGrp="1"/>
          </p:cNvSpPr>
          <p:nvPr/>
        </p:nvSpPr>
        <p:spPr>
          <a:xfrm>
            <a:off x="4762500" y="44672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Hostel, library &amp; transport context</a:t>
            </a:r>
          </a:p>
        </p:txBody>
      </p:sp>
    </p:spTree>
    <p:extLst>
      <p:ext uri="{BB962C8B-B14F-4D97-AF65-F5344CB8AC3E}">
        <p14:creationId xmlns:p14="http://schemas.microsoft.com/office/powerpoint/2010/main" val="141385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FEECFA0-B9BC-494C-8A82-E9C89A4033C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TRUST &amp;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619E08-E08C-49E3-810B-AC4CA7E706E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Role-based access protects focus and accountability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DDD0AB-00DB-4AA1-BA40-E62A59355C2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177A9-6F08-4849-9DA5-50BBC0D72C77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F1655-6804-45FE-93D5-11E5564CC7AB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3CA801-030D-4AF8-83A3-A9144A35CEBC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1244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35C22C-764A-4AC1-A16E-A13384719E82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1500F-76C0-4BF5-B5A3-B30BD2C49B62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948045-1879-4CD2-B866-A33A81FD71D4}"/>
              </a:ext>
            </a:extLst>
          </p:cNvPr>
          <p:cNvSpPr>
            <a:spLocks noGrp="1"/>
          </p:cNvSpPr>
          <p:nvPr/>
        </p:nvSpPr>
        <p:spPr>
          <a:xfrm>
            <a:off x="1657350" y="2095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C41530-DD0B-4EB6-89BF-A3EEBDDF5DB6}"/>
              </a:ext>
            </a:extLst>
          </p:cNvPr>
          <p:cNvSpPr>
            <a:spLocks noGrp="1"/>
          </p:cNvSpPr>
          <p:nvPr/>
        </p:nvSpPr>
        <p:spPr>
          <a:xfrm>
            <a:off x="1657350" y="24384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Institutional controls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53AE3B-7E5E-4475-AFDC-3DACE849252E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51244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AF29B8-1E17-4A8B-B6C7-C0C3D67D0705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AF6D54-9B19-4E3D-BA3A-293ABEFC30F5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95B61C-6594-4C18-A748-DE7241844431}"/>
              </a:ext>
            </a:extLst>
          </p:cNvPr>
          <p:cNvSpPr>
            <a:spLocks noGrp="1"/>
          </p:cNvSpPr>
          <p:nvPr/>
        </p:nvSpPr>
        <p:spPr>
          <a:xfrm>
            <a:off x="7124700" y="2095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A122B-C2E6-4964-8CD3-980AC789990F}"/>
              </a:ext>
            </a:extLst>
          </p:cNvPr>
          <p:cNvSpPr>
            <a:spLocks noGrp="1"/>
          </p:cNvSpPr>
          <p:nvPr/>
        </p:nvSpPr>
        <p:spPr>
          <a:xfrm>
            <a:off x="7124700" y="24384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Departmental oversight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FC381B-4CF1-44D2-826C-EEA031B4E98F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1244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AEC5C7-3DE7-442E-8334-C845B054FEEB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917DA4-C1FD-4422-BB80-62C6FDE53B52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879FA9-7D92-4BD1-A53B-DC115B09714D}"/>
              </a:ext>
            </a:extLst>
          </p:cNvPr>
          <p:cNvSpPr>
            <a:spLocks noGrp="1"/>
          </p:cNvSpPr>
          <p:nvPr/>
        </p:nvSpPr>
        <p:spPr>
          <a:xfrm>
            <a:off x="1657350" y="3619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877B22-59FC-4658-AFBA-FB29DF084A74}"/>
              </a:ext>
            </a:extLst>
          </p:cNvPr>
          <p:cNvSpPr>
            <a:spLocks noGrp="1"/>
          </p:cNvSpPr>
          <p:nvPr/>
        </p:nvSpPr>
        <p:spPr>
          <a:xfrm>
            <a:off x="1657350" y="39624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Operational execution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CDF8EF-3C20-4F34-8A5A-23A3BE65AB15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51244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E5698E-F0EE-41FF-ACF3-04B8503EB4F9}"/>
              </a:ext>
            </a:extLst>
          </p:cNvPr>
          <p:cNvSpPr>
            <a:spLocks noGrp="1"/>
          </p:cNvSpPr>
          <p:nvPr/>
        </p:nvSpPr>
        <p:spPr>
          <a:xfrm>
            <a:off x="6381750" y="36004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9DD860-90FD-4EEC-9A84-9D2BEC7C4AA4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E3582C-CE18-4681-82DD-70E8664F95B1}"/>
              </a:ext>
            </a:extLst>
          </p:cNvPr>
          <p:cNvSpPr>
            <a:spLocks noGrp="1"/>
          </p:cNvSpPr>
          <p:nvPr/>
        </p:nvSpPr>
        <p:spPr>
          <a:xfrm>
            <a:off x="7124700" y="3619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 &amp; Parent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B5B585-891C-439C-A9BC-6A980A9492A6}"/>
              </a:ext>
            </a:extLst>
          </p:cNvPr>
          <p:cNvSpPr>
            <a:spLocks noGrp="1"/>
          </p:cNvSpPr>
          <p:nvPr/>
        </p:nvSpPr>
        <p:spPr>
          <a:xfrm>
            <a:off x="7124700" y="39624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Personal information 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42905C-0E43-4F55-AF01-38BD35187946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962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Permission-aware design helps keep data relevant, secure and manageable.</a:t>
            </a:r>
          </a:p>
        </p:txBody>
      </p:sp>
    </p:spTree>
    <p:extLst>
      <p:ext uri="{BB962C8B-B14F-4D97-AF65-F5344CB8AC3E}">
        <p14:creationId xmlns:p14="http://schemas.microsoft.com/office/powerpoint/2010/main" val="146729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5C99647-D2FE-48AE-8E1F-95AF02CD7D5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TECHNOLOGY FOUNDATION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03FD4F-C372-4D6F-9AF9-56388A0243A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Designed as a modern, connected ERP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0BA7DB-32A5-4C0B-9C67-E696F46626A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DE1F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63F62-6C12-4534-AF1C-E6068ECBBAC0}"/>
              </a:ext>
            </a:extLst>
          </p:cNvPr>
          <p:cNvSpPr>
            <a:spLocks noGrp="1"/>
          </p:cNvSpPr>
          <p:nvPr/>
        </p:nvSpPr>
        <p:spPr>
          <a:xfrm>
            <a:off x="685800" y="6591300"/>
            <a:ext cx="2381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BEBE29-67DF-4F8B-A6B1-86198FD5DC56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93A280-B36F-4AC9-86E5-FB135787932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308610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206E59-A087-49D8-BC9C-7FCEDE488EE7}"/>
              </a:ext>
            </a:extLst>
          </p:cNvPr>
          <p:cNvSpPr>
            <a:spLocks noGrp="1"/>
          </p:cNvSpPr>
          <p:nvPr/>
        </p:nvSpPr>
        <p:spPr>
          <a:xfrm>
            <a:off x="1028700" y="2286000"/>
            <a:ext cx="2209800" cy="161925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02968-D35B-4F17-A53E-2F9C784F1A08}"/>
              </a:ext>
            </a:extLst>
          </p:cNvPr>
          <p:cNvSpPr>
            <a:spLocks noGrp="1"/>
          </p:cNvSpPr>
          <p:nvPr/>
        </p:nvSpPr>
        <p:spPr>
          <a:xfrm>
            <a:off x="1257300" y="25050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A9FA4-5596-4010-8B65-14088C336EDE}"/>
              </a:ext>
            </a:extLst>
          </p:cNvPr>
          <p:cNvSpPr>
            <a:spLocks noGrp="1"/>
          </p:cNvSpPr>
          <p:nvPr/>
        </p:nvSpPr>
        <p:spPr>
          <a:xfrm>
            <a:off x="1257300" y="29051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2844CC-2A6B-486C-A887-350D9D85B3F9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179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Accessible role-based user interface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89555F-D865-4057-9D0E-661113D91BBE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2209800" cy="161925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DFB667-0987-41B9-A89B-C2193AA61999}"/>
              </a:ext>
            </a:extLst>
          </p:cNvPr>
          <p:cNvSpPr>
            <a:spLocks noGrp="1"/>
          </p:cNvSpPr>
          <p:nvPr/>
        </p:nvSpPr>
        <p:spPr>
          <a:xfrm>
            <a:off x="3829050" y="25050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DA804C-C441-4736-9867-CD5EB17D6CF9}"/>
              </a:ext>
            </a:extLst>
          </p:cNvPr>
          <p:cNvSpPr>
            <a:spLocks noGrp="1"/>
          </p:cNvSpPr>
          <p:nvPr/>
        </p:nvSpPr>
        <p:spPr>
          <a:xfrm>
            <a:off x="3829050" y="29051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 logic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BB1E1-36B6-4625-BB83-53D0A0CF7C8B}"/>
              </a:ext>
            </a:extLst>
          </p:cNvPr>
          <p:cNvSpPr>
            <a:spLocks noGrp="1"/>
          </p:cNvSpPr>
          <p:nvPr/>
        </p:nvSpPr>
        <p:spPr>
          <a:xfrm>
            <a:off x="3829050" y="3429000"/>
            <a:ext cx="179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Secure business workflows and APIs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A326BC-4558-407A-9907-EE08DE6EA3B2}"/>
              </a:ext>
            </a:extLst>
          </p:cNvPr>
          <p:cNvSpPr>
            <a:spLocks noGrp="1"/>
          </p:cNvSpPr>
          <p:nvPr/>
        </p:nvSpPr>
        <p:spPr>
          <a:xfrm>
            <a:off x="6172200" y="2286000"/>
            <a:ext cx="2209800" cy="161925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13D698-EF65-4152-AEA1-0C66B6FB6C89}"/>
              </a:ext>
            </a:extLst>
          </p:cNvPr>
          <p:cNvSpPr>
            <a:spLocks noGrp="1"/>
          </p:cNvSpPr>
          <p:nvPr/>
        </p:nvSpPr>
        <p:spPr>
          <a:xfrm>
            <a:off x="6400800" y="25050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43347-9F42-4B2E-994B-0A4C47D6AED6}"/>
              </a:ext>
            </a:extLst>
          </p:cNvPr>
          <p:cNvSpPr>
            <a:spLocks noGrp="1"/>
          </p:cNvSpPr>
          <p:nvPr/>
        </p:nvSpPr>
        <p:spPr>
          <a:xfrm>
            <a:off x="6400800" y="29051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0DBDF8-9B9C-4CC8-B103-71B2F513278E}"/>
              </a:ext>
            </a:extLst>
          </p:cNvPr>
          <p:cNvSpPr>
            <a:spLocks noGrp="1"/>
          </p:cNvSpPr>
          <p:nvPr/>
        </p:nvSpPr>
        <p:spPr>
          <a:xfrm>
            <a:off x="6400800" y="3429000"/>
            <a:ext cx="179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Centralized institutional information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7546CB-60B0-400F-BB44-8E8B1385B012}"/>
              </a:ext>
            </a:extLst>
          </p:cNvPr>
          <p:cNvSpPr>
            <a:spLocks noGrp="1"/>
          </p:cNvSpPr>
          <p:nvPr/>
        </p:nvSpPr>
        <p:spPr>
          <a:xfrm>
            <a:off x="8743950" y="2286000"/>
            <a:ext cx="2209800" cy="1619250"/>
          </a:xfrm>
          <a:prstGeom prst="roundRect">
            <a:avLst>
              <a:gd name="adj" fmla="val 7059"/>
            </a:avLst>
          </a:prstGeom>
          <a:solidFill>
            <a:srgbClr val="312E8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7949ED-4AC3-407B-986E-3AE6B1024E91}"/>
              </a:ext>
            </a:extLst>
          </p:cNvPr>
          <p:cNvSpPr>
            <a:spLocks noGrp="1"/>
          </p:cNvSpPr>
          <p:nvPr/>
        </p:nvSpPr>
        <p:spPr>
          <a:xfrm>
            <a:off x="8972550" y="25050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0A72F-AA58-4368-A4D3-F0BC9036B1F9}"/>
              </a:ext>
            </a:extLst>
          </p:cNvPr>
          <p:cNvSpPr>
            <a:spLocks noGrp="1"/>
          </p:cNvSpPr>
          <p:nvPr/>
        </p:nvSpPr>
        <p:spPr>
          <a:xfrm>
            <a:off x="8972550" y="29051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Intelligence layer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436C5A-B053-45F3-A24C-0769980D9D09}"/>
              </a:ext>
            </a:extLst>
          </p:cNvPr>
          <p:cNvSpPr>
            <a:spLocks noGrp="1"/>
          </p:cNvSpPr>
          <p:nvPr/>
        </p:nvSpPr>
        <p:spPr>
          <a:xfrm>
            <a:off x="8972550" y="3429000"/>
            <a:ext cx="179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FE"/>
                </a:solidFill>
                <a:latin typeface="Aptos"/>
                <a:ea typeface="Aptos"/>
                <a:cs typeface="Aptos"/>
              </a:rPr>
              <a:t>AI-assisted access to information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491BA5-8F9A-427D-9EF6-EF6B28F2166C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modular foundation supports a consistent experience across the college ecosystem.</a:t>
            </a:r>
          </a:p>
        </p:txBody>
      </p:sp>
    </p:spTree>
    <p:extLst>
      <p:ext uri="{BB962C8B-B14F-4D97-AF65-F5344CB8AC3E}">
        <p14:creationId xmlns:p14="http://schemas.microsoft.com/office/powerpoint/2010/main" val="390953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08CC6B-3B5C-4276-8624-7179D160E3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34A"/>
          </a:solidFill>
          <a:ln w="0">
            <a:noFill/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327DAA-4498-4AB6-8608-576D3A88D739}"/>
              </a:ext>
            </a:extLst>
          </p:cNvPr>
          <p:cNvSpPr>
            <a:spLocks noGrp="1"/>
          </p:cNvSpPr>
          <p:nvPr/>
        </p:nvSpPr>
        <p:spPr>
          <a:xfrm>
            <a:off x="8324850" y="-762000"/>
            <a:ext cx="4762500" cy="4762500"/>
          </a:xfrm>
          <a:prstGeom prst="roundRect">
            <a:avLst>
              <a:gd name="adj" fmla="val 2400"/>
            </a:avLst>
          </a:prstGeom>
          <a:solidFill>
            <a:srgbClr val="2C2780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FEF863-8C02-4637-A460-7104DF5A1904}"/>
              </a:ext>
            </a:extLst>
          </p:cNvPr>
          <p:cNvSpPr>
            <a:spLocks noGrp="1"/>
          </p:cNvSpPr>
          <p:nvPr/>
        </p:nvSpPr>
        <p:spPr>
          <a:xfrm>
            <a:off x="9315450" y="14668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AD5734-E35C-47D7-B6AE-8FAA68A1E4F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4381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FIC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76C5C-8C2B-4986-9281-48CB9337267A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connected operating system for a smarter college.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939C46-7CF6-441E-A42E-0377842EDF13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572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8D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8FF"/>
                </a:solidFill>
                <a:latin typeface="Aptos"/>
                <a:ea typeface="Aptos"/>
                <a:cs typeface="Aptos"/>
              </a:rPr>
              <a:t>Bring administration, academics, campus operations and student services together—with the clarity of real-time information and the accessibility of AI.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E709E6-150D-4666-928E-664A568078AC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95275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6C348-5617-4DA0-B572-F469C2265237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257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AI-POWERED • ROLE-AWARE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AF713-2FC1-4128-A2CD-0B077D969F54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5B4FC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37481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Office PowerPoint</Application>
  <DocSecurity>0</DocSecurity>
  <PresentationFormat>Widescreen</PresentationFormat>
  <Paragraphs>272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Smart smart</cp:lastModifiedBy>
  <cp:revision>1</cp:revision>
  <dcterms:created xsi:type="dcterms:W3CDTF">2026-07-30T11:04:01Z</dcterms:created>
  <dcterms:modified xsi:type="dcterms:W3CDTF">2026-07-30T11:18:57Z</dcterms:modified>
</cp:coreProperties>
</file>